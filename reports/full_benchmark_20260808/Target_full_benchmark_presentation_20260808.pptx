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acb7941f140ba" /><Relationship Type="http://schemas.openxmlformats.org/officeDocument/2006/relationships/extended-properties" Target="/docProps/app.xml" Id="R0b04ec4adf4946f8" /><Relationship Type="http://schemas.openxmlformats.org/officeDocument/2006/relationships/officeDocument" Target="/ppt/presentation.xml" Id="Rf1819297570d49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2b46150f2414c"/>
  </p:sldMasterIdLst>
  <p:notesMasterIdLst>
    <p:notesMasterId xmlns:r="http://schemas.openxmlformats.org/officeDocument/2006/relationships" r:id="R051fb03a26b048ca"/>
  </p:notesMasterIdLst>
  <p:sldIdLst>
    <p:sldId xmlns:r="http://schemas.openxmlformats.org/officeDocument/2006/relationships" id="256" r:id="R50a3d712bd754118"/>
    <p:sldId xmlns:r="http://schemas.openxmlformats.org/officeDocument/2006/relationships" id="257" r:id="R09116c43680d4f95"/>
    <p:sldId xmlns:r="http://schemas.openxmlformats.org/officeDocument/2006/relationships" id="258" r:id="R5aa01fa8e32b4a33"/>
    <p:sldId xmlns:r="http://schemas.openxmlformats.org/officeDocument/2006/relationships" id="259" r:id="R71c0ad60bcb844ff"/>
    <p:sldId xmlns:r="http://schemas.openxmlformats.org/officeDocument/2006/relationships" id="260" r:id="R503759be9b824c32"/>
    <p:sldId xmlns:r="http://schemas.openxmlformats.org/officeDocument/2006/relationships" id="261" r:id="R2a7d783dafe64322"/>
    <p:sldId xmlns:r="http://schemas.openxmlformats.org/officeDocument/2006/relationships" id="262" r:id="Ra8c7de99335b41cd"/>
    <p:sldId xmlns:r="http://schemas.openxmlformats.org/officeDocument/2006/relationships" id="263" r:id="Ra0224dc82d5b4124"/>
    <p:sldId xmlns:r="http://schemas.openxmlformats.org/officeDocument/2006/relationships" id="264" r:id="Rf2efa57d81834e70"/>
    <p:sldId xmlns:r="http://schemas.openxmlformats.org/officeDocument/2006/relationships" id="265" r:id="R7e9e997540114ece"/>
    <p:sldId xmlns:r="http://schemas.openxmlformats.org/officeDocument/2006/relationships" id="266" r:id="R64d8671e71ec4e15"/>
    <p:sldId xmlns:r="http://schemas.openxmlformats.org/officeDocument/2006/relationships" id="267" r:id="Rdd8e02a0285b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b4338a8dc4aa6" /><Relationship Type="http://schemas.openxmlformats.org/officeDocument/2006/relationships/slideMaster" Target="/ppt/slideMasters/slideMaster1.xml" Id="R0552b46150f2414c" /><Relationship Type="http://schemas.openxmlformats.org/officeDocument/2006/relationships/notesMaster" Target="/ppt/notesMasters/notesMaster1.xml" Id="R051fb03a26b048ca" /><Relationship Type="http://schemas.openxmlformats.org/officeDocument/2006/relationships/presProps" Target="/ppt/presProps.xml" Id="R141e276f9a5b40b7" /><Relationship Type="http://schemas.openxmlformats.org/officeDocument/2006/relationships/tableStyles" Target="/ppt/tableStyles.xml" Id="R1de7da2577e8498f" /><Relationship Type="http://schemas.openxmlformats.org/officeDocument/2006/relationships/slide" Target="/ppt/slides/slide1.xml" Id="R50a3d712bd754118" /><Relationship Type="http://schemas.openxmlformats.org/officeDocument/2006/relationships/slide" Target="/ppt/slides/slide2.xml" Id="R09116c43680d4f95" /><Relationship Type="http://schemas.openxmlformats.org/officeDocument/2006/relationships/slide" Target="/ppt/slides/slide3.xml" Id="R5aa01fa8e32b4a33" /><Relationship Type="http://schemas.openxmlformats.org/officeDocument/2006/relationships/slide" Target="/ppt/slides/slide4.xml" Id="R71c0ad60bcb844ff" /><Relationship Type="http://schemas.openxmlformats.org/officeDocument/2006/relationships/slide" Target="/ppt/slides/slide5.xml" Id="R503759be9b824c32" /><Relationship Type="http://schemas.openxmlformats.org/officeDocument/2006/relationships/slide" Target="/ppt/slides/slide6.xml" Id="R2a7d783dafe64322" /><Relationship Type="http://schemas.openxmlformats.org/officeDocument/2006/relationships/slide" Target="/ppt/slides/slide7.xml" Id="Ra8c7de99335b41cd" /><Relationship Type="http://schemas.openxmlformats.org/officeDocument/2006/relationships/slide" Target="/ppt/slides/slide8.xml" Id="Ra0224dc82d5b4124" /><Relationship Type="http://schemas.openxmlformats.org/officeDocument/2006/relationships/slide" Target="/ppt/slides/slide9.xml" Id="Rf2efa57d81834e70" /><Relationship Type="http://schemas.openxmlformats.org/officeDocument/2006/relationships/slide" Target="/ppt/slides/slide10.xml" Id="R7e9e997540114ece" /><Relationship Type="http://schemas.openxmlformats.org/officeDocument/2006/relationships/slide" Target="/ppt/slides/slide11.xml" Id="R64d8671e71ec4e15" /><Relationship Type="http://schemas.openxmlformats.org/officeDocument/2006/relationships/slide" Target="/ppt/slides/slide12.xml" Id="Rdd8e02a0285b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948bc4347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3c694b66da4736" /><Relationship Type="http://schemas.openxmlformats.org/officeDocument/2006/relationships/notesMaster" Target="/ppt/notesMasters/notesMaster1.xml" Id="Ra73f1c23cd0d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d02b888864560" /><Relationship Type="http://schemas.openxmlformats.org/officeDocument/2006/relationships/notesMaster" Target="/ppt/notesMasters/notesMaster1.xml" Id="R0179da5317bb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5dd3a315941b7" /><Relationship Type="http://schemas.openxmlformats.org/officeDocument/2006/relationships/notesMaster" Target="/ppt/notesMasters/notesMaster1.xml" Id="R4d7620288b48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e7597757204846" /><Relationship Type="http://schemas.openxmlformats.org/officeDocument/2006/relationships/notesMaster" Target="/ppt/notesMasters/notesMaster1.xml" Id="R8de732f50edd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d1d5892b7a4a60" /><Relationship Type="http://schemas.openxmlformats.org/officeDocument/2006/relationships/notesMaster" Target="/ppt/notesMasters/notesMaster1.xml" Id="R4bd39cc858a4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1dfa1eb2ac470f" /><Relationship Type="http://schemas.openxmlformats.org/officeDocument/2006/relationships/notesMaster" Target="/ppt/notesMasters/notesMaster1.xml" Id="Rffabdd8433a349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0883ab60349a9" /><Relationship Type="http://schemas.openxmlformats.org/officeDocument/2006/relationships/notesMaster" Target="/ppt/notesMasters/notesMaster1.xml" Id="R67076ae66041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60fc8023843d8" /><Relationship Type="http://schemas.openxmlformats.org/officeDocument/2006/relationships/notesMaster" Target="/ppt/notesMasters/notesMaster1.xml" Id="R1db82abf7c5046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b614542524186" /><Relationship Type="http://schemas.openxmlformats.org/officeDocument/2006/relationships/notesMaster" Target="/ppt/notesMasters/notesMaster1.xml" Id="R1a3f640ac1a243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fc99371b3346f1" /><Relationship Type="http://schemas.openxmlformats.org/officeDocument/2006/relationships/notesMaster" Target="/ppt/notesMasters/notesMaster1.xml" Id="Rfbd898165e0941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5526207d4b4a41" /><Relationship Type="http://schemas.openxmlformats.org/officeDocument/2006/relationships/notesMaster" Target="/ppt/notesMasters/notesMaster1.xml" Id="Rf8d3e14b069b4c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76a99522584ffd" /><Relationship Type="http://schemas.openxmlformats.org/officeDocument/2006/relationships/notesMaster" Target="/ppt/notesMasters/notesMaster1.xml" Id="R826baf46fe8c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主讲提示：先说明本次为完整本地 fake/unit 运行，不含 live API 与 GPU profile。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reports/full_benchmark_20260808/metrics_summary.json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reports/full_benchmark_20260808/raw/pytest.xml</a:t>
            </a:r>
          </a:p>
          <a:p xmlns:a="http://schemas.openxmlformats.org/drawingml/2006/main">
            <a:r>
              <a:t>- benchmark/goldset_v2.jsonl</a:t>
            </a:r>
          </a:p>
          <a:p xmlns:a="http://schemas.openxmlformats.org/drawingml/2006/main">
            <a:r>
              <a:t>- benchmark/goldset_diseases.jsonl</a:t>
            </a:r>
          </a:p>
          <a:p xmlns:a="http://schemas.openxmlformats.org/drawingml/2006/main">
            <a:r>
              <a:t>- benchmark/goldset_context_relations.jsonl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reports/full_benchmark_20260808/metrics_summary.json</a:t>
            </a:r>
          </a:p>
          <a:p xmlns:a="http://schemas.openxmlformats.org/drawingml/2006/main">
            <a:r>
              <a:t>- reports/full_benchmark_20260808/raw/relation_context_blind_report.json</a:t>
            </a:r>
          </a:p>
          <a:p xmlns:a="http://schemas.openxmlformats.org/drawingml/2006/main">
            <a:r>
              <a:t>- reports/full_benchmark_20260808/raw/relation_oracle_report.json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reports/full_benchmark_20260808/raw/main/benchmark_report.json</a:t>
            </a:r>
          </a:p>
          <a:p xmlns:a="http://schemas.openxmlformats.org/drawingml/2006/main">
            <a:r>
              <a:t>- benchmark/rubric.md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reports/full_benchmark_20260808/raw/main/benchmark_report.json</a:t>
            </a:r>
          </a:p>
          <a:p xmlns:a="http://schemas.openxmlformats.org/drawingml/2006/main">
            <a:r>
              <a:t>- reports/full_benchmark_20260808/raw/main_console.txt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reports/full_benchmark_20260808/raw/diseases/benchmark_report.json</a:t>
            </a:r>
          </a:p>
          <a:p xmlns:a="http://schemas.openxmlformats.org/drawingml/2006/main">
            <a:r>
              <a:t>- benchmark/goldset_diseases.jsonl</a:t>
            </a:r>
          </a:p>
          <a:p xmlns:a="http://schemas.openxmlformats.org/drawingml/2006/main">
            <a:r>
              <a:t>- configs/disease_library.yaml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reports/full_benchmark_20260808/raw/diseases/benchmark_report.json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benchmark/goldset_context_relations.jsonl</a:t>
            </a:r>
          </a:p>
          <a:p xmlns:a="http://schemas.openxmlformats.org/drawingml/2006/main">
            <a:r>
              <a:t>- benchmark/benchmark_context_relations_summary.json</a:t>
            </a:r>
          </a:p>
          <a:p xmlns:a="http://schemas.openxmlformats.org/drawingml/2006/main">
            <a:r>
              <a:t>- schemas/context_relation_case.schema.json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reports/full_benchmark_20260808/raw/relation_context_blind_report.json</a:t>
            </a:r>
          </a:p>
          <a:p xmlns:a="http://schemas.openxmlformats.org/drawingml/2006/main">
            <a:r>
              <a:t>- reports/full_benchmark_20260808/raw/relation_oracle_report.json</a:t>
            </a:r>
          </a:p>
          <a:p xmlns:a="http://schemas.openxmlformats.org/drawingml/2006/main">
            <a:r>
              <a:t>- benchmark/score_context_relations.py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reports/full_benchmark_20260808/metrics_summary.json</a:t>
            </a:r>
          </a:p>
          <a:p xmlns:a="http://schemas.openxmlformats.org/drawingml/2006/main">
            <a:r>
              <a:t>- reports/full_benchmark_20260808/raw/pytest.xml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reports/full_benchmark_20260808/Target_full_benchmark_report_20260808.docx</a:t>
            </a:r>
          </a:p>
          <a:p xmlns:a="http://schemas.openxmlformats.org/drawingml/2006/main">
            <a:r>
              <a:t>- benchmark/README_context_relations.md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https://github.com/ocean-debug/Target/pull/12</a:t>
            </a:r>
          </a:p>
          <a:p xmlns:a="http://schemas.openxmlformats.org/drawingml/2006/main">
            <a:r>
              <a:t>- reports/full_benchmark_20260808/Target_full_benchmark_report_20260808.docx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7f9c0487b4a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9ff5a0e5044d0" /><Relationship Type="http://schemas.openxmlformats.org/officeDocument/2006/relationships/slideLayout" Target="/ppt/slideLayouts/slideLayout1.xml" Id="Rf84aca412027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4aca412027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a1d22149f45e1" /><Relationship Type="http://schemas.openxmlformats.org/officeDocument/2006/relationships/notesSlide" Target="/ppt/notesSlides/notesSlide1.xml" Id="R9182302cf5a14e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5e470594647c6" /><Relationship Type="http://schemas.openxmlformats.org/officeDocument/2006/relationships/notesSlide" Target="/ppt/notesSlides/notesSlide2.xml" Id="R25294d39c4f847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a5f4c2dde4165" /><Relationship Type="http://schemas.openxmlformats.org/officeDocument/2006/relationships/notesSlide" Target="/ppt/notesSlides/notesSlide3.xml" Id="R21bd7cdef78b48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2839ddcd649ba" /><Relationship Type="http://schemas.openxmlformats.org/officeDocument/2006/relationships/notesSlide" Target="/ppt/notesSlides/notesSlide4.xml" Id="R6eb9dd9af946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de4367d9146c5" /><Relationship Type="http://schemas.openxmlformats.org/officeDocument/2006/relationships/notesSlide" Target="/ppt/notesSlides/notesSlide5.xml" Id="R5fdd4add3fd44a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2e28c0b764a48" /><Relationship Type="http://schemas.openxmlformats.org/officeDocument/2006/relationships/notesSlide" Target="/ppt/notesSlides/notesSlide6.xml" Id="R36fc3f1b76d0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303305df845e0" /><Relationship Type="http://schemas.openxmlformats.org/officeDocument/2006/relationships/notesSlide" Target="/ppt/notesSlides/notesSlide7.xml" Id="R9e5e66568fd74d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04a9951ee4c98" /><Relationship Type="http://schemas.openxmlformats.org/officeDocument/2006/relationships/notesSlide" Target="/ppt/notesSlides/notesSlide8.xml" Id="Red1a1b25090649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c02c8265a4289" /><Relationship Type="http://schemas.openxmlformats.org/officeDocument/2006/relationships/notesSlide" Target="/ppt/notesSlides/notesSlide9.xml" Id="Rdc4b55da5ca542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5109747b44ac6" /><Relationship Type="http://schemas.openxmlformats.org/officeDocument/2006/relationships/notesSlide" Target="/ppt/notesSlides/notesSlide10.xml" Id="R9a304fbede8546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fc7913096446d" /><Relationship Type="http://schemas.openxmlformats.org/officeDocument/2006/relationships/notesSlide" Target="/ppt/notesSlides/notesSlide11.xml" Id="R5cc500718e3a48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8b517ee3e4c22" /><Relationship Type="http://schemas.openxmlformats.org/officeDocument/2006/relationships/notesSlide" Target="/ppt/notesSlides/notesSlide12.xml" Id="R6df3c47aca7248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81CB7-87E1-466C-B5F6-CB97A66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CC30D-54E3-450A-B32E-C165389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BE29A-5E57-4870-AE14-F9C3EDE6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TARGET · FULL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95E8B-14CC-4B6B-9486-7883E5E2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完整评测运行</a:t>
            </a:r>
          </a:p>
          <a:p xmlns:a="http://schemas.openxmlformats.org/drawingml/2006/main">
            <a:pPr algn="l">
              <a:defRPr sz="39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与关系评测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E1D18-1C8E-46DD-8EF7-622A91A6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疾病—靶点—组织—细胞—时期</a:t>
            </a:r>
          </a:p>
          <a:p xmlns:a="http://schemas.openxmlformats.org/drawingml/2006/main">
            <a:pPr algn="l">
              <a:defRPr sz="17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从本地回归到上下文敏感度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65ADC-E6D1-4C65-A011-AB8EAE9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DB511-C873-4369-8A22-58A9A2A8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10186-68E2-4756-9952-CC6FBCB5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239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81 / 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57C06-6AB5-4309-8626-6BADAB11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pytest 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2AB33-0223-422A-9FCD-54C059F2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另有 4 项跳过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F5FFC-2C50-4EF3-95A3-24D7BD5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B2841-4E0C-425E-8B58-E2FF927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647A8-3950-4D33-84B6-281B8B1E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432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72 / 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F5E55-1666-4A7F-88E9-DB01192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疾病任务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4C611-3CD9-4755-9BEE-1C13073F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234 条断言全通过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8259C-5821-4B3E-B4AC-2DD6A78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10C0D-DA04-49EA-BA32-B596358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E97CE-39F1-46A7-B435-44A5D78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E97B9-361E-4269-AEB7-A15C0221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5775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关系样本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55A61-3F25-4A94-9158-810F2CBB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816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基线 62.8% · 自检 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7D7AF-538E-4B8E-89D5-E69ABF0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2026-08-08  ·  Local reproducible run</a:t>
            </a:r>
          </a:p>
        </p:txBody>
      </p:sp>
    </p:spTree>
    <p:extLst>
      <p:ext uri="{BB962C8B-B14F-4D97-AF65-F5344CB8AC3E}">
        <p14:creationId xmlns:p14="http://schemas.microsoft.com/office/powerpoint/2010/main" val="1354479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5326A-4109-42CE-8A7C-FF72238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E70FE-059D-460B-8578-31099BBF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一次完整运行，覆盖四层质量信号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761D7-8AEF-4D8B-B9EF-10F2C8AE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728E4-3208-4B54-A77F-2F652A6C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252F8-0EAE-4DDA-BBA5-7E41BB50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9BDE6-7C41-4766-AE41-B6D58651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81811-F38C-4132-876A-333FE4FC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655C5-3E5C-4819-B14C-E514AF01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pytest 用例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26697-0E41-4AFD-9933-E6F219C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代码与合同回归</a:t>
            </a:r>
          </a:p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81 pass · 4 skip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0DCE5-531A-4687-BD77-1A10143C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6479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F2175-6B53-4768-840F-4DE26FF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277E2-C3CD-431D-92C3-0FA745B5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F8E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F8EF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BD7DD-DA80-4D4E-A131-3FC5970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主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DE76D-431A-4C7C-B3D0-F43290F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27 条断言</a:t>
            </a:r>
          </a:p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主链 / 迁移 / 鲁棒性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DFB59-823A-414A-8ABB-DA2B1C8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6479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636F0-4C94-4F76-976D-AA4AE239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B3771-E1D6-4801-9197-062E3EAB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BF86B-A276-4360-BC4C-E0EC7AE2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疾病任务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EA7C3-F7AE-41D8-8A64-D9AB160D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18 疾病 × 4 桶</a:t>
            </a:r>
          </a:p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234 条断言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505CD-FB20-413E-A1C6-B78A329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6479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F65B4-BBF9-46D3-85C8-8F7817A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A930D-AD26-42A0-A365-F941FFC6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A6FB8-6FA4-4326-9671-0FF5B68E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关系样本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9FC57-CA33-4BAE-A004-2AD18CC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锚点 + 上下文</a:t>
            </a:r>
          </a:p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train / val /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28A52-A3B8-4A3A-919B-B08CDF7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验收边界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FABC8-8878-41CB-B479-98E33EF1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未运行 live 外部 API 与 Reviewer LoRA GPU matrix；二者依赖网络/API/GPU 部署配置，也不是当前 CI 合并门槛。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3EEBE-40FD-43B6-B89D-8929E2AA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C2FEF-61A8-4DFA-B01C-99BCE881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本机 Python 3.12.13；正式 acceptance runtime 为 Python 3.11，发布前需在远端 3.11 profile 复跑。</a:t>
            </a:r>
          </a:p>
        </p:txBody>
      </p:sp>
    </p:spTree>
    <p:extLst>
      <p:ext uri="{BB962C8B-B14F-4D97-AF65-F5344CB8AC3E}">
        <p14:creationId xmlns:p14="http://schemas.microsoft.com/office/powerpoint/2010/main" val="1327191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56F66-6B8B-4AF4-890F-14763188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EXECUTIVE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02FDC-9885-4A2F-8EC6-C6DA4CB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三套执行结果全绿，关系集提供了真正的区分度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64182-4AB4-490B-B847-72727C6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D5A98-CB64-4419-9219-1B7EB58D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43153-7EDA-4529-B2E5-F58B37B9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15F53-75B1-48A5-B059-9BBD5831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C8ED8-5068-4AA9-8A2A-DABF7318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74637-3A44-464A-B57C-391ADB0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主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83DA2-9EAA-40F6-89A5-75B9872B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971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11/11 任务 · 27/27 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44491-6A31-4361-B7DC-1F9F1C1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F7B47-2953-4F40-8E95-C5A90DF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AFE1A-CCE3-4161-ACC4-6FB79FE1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430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8CDE6-86AD-4EFA-AC39-7B171BBE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疾病库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1C43C-3FDC-4670-B197-4C4CF1E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971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72/72 任务 · 234/234 断言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1FF6F-40F9-432A-A6C7-A445829C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11775-A8A7-4403-A9CD-92D9EA7C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55B8A-56D4-4605-BA56-FDB274D1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430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62.8%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7E1DF-E405-45DE-B644-9C70CE8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上下文盲基线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7A0CD-839C-4B61-8270-2FDF2B25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971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标签准确率与必要动作召回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92175-91CE-4E4A-A233-87D9022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2E6CE-C2B6-4C7A-B7D7-4C534A5B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14AA5-6E5D-4F38-B9BC-4209807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6245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Gold / 评分器自检为 100%，它只证明样本与 scorer 对齐；不能被解读为 Agent 的关系理解性能。基线在覆盖率与禁用声明安全上均为 100%，但无法识别缺失上下文和错配上下文。</a:t>
            </a:r>
          </a:p>
        </p:txBody>
      </p:sp>
    </p:spTree>
    <p:extLst>
      <p:ext uri="{BB962C8B-B14F-4D97-AF65-F5344CB8AC3E}">
        <p14:creationId xmlns:p14="http://schemas.microsoft.com/office/powerpoint/2010/main" val="757230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F540D0-72E0-4C4C-8E32-E400C83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MAIN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27CC5-48DF-4365-AA22-B206127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主 Benchmark：五类能力、27 条断言全部通过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47F15-47D1-423A-BB76-8F1DB7C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4DF48-B35B-4DCF-8C7F-7CF6773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FDAC1-7E03-438B-9369-836444A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EB277-8BD9-486A-9466-52C7A41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605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26DAB-70CE-47E7-BDDB-92745056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26456-010B-445D-B32F-5CF48F5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1938"/>
            <a:ext cx="605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01166-1135-4773-AEB7-E3F6B9BD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5738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66A7F-3DF2-4B48-9FCF-9E718AB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0425"/>
            <a:ext cx="605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740D4-0672-44B9-A117-AE8C904A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483EC-2176-4DF2-A267-259DFF5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8913"/>
            <a:ext cx="605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C6378-D464-46E0-94B7-6EF83A2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2713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8EA1A-89B1-4118-B734-E51D9584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605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B60B9-CD2E-4C26-AA42-2DAF11BA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401CC-9218-4857-96DB-EDEAAF7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21" y="2301586"/>
            <a:ext cx="843763" cy="2441864"/>
          </a:xfrm>
          <a:prstGeom xmlns:a="http://schemas.openxmlformats.org/drawingml/2006/main" prst="roundRect">
            <a:avLst>
              <a:gd name="adj" fmla="val 13546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ACFED-BBEC-4F7D-9888-B2FE9D4E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96" y="2130136"/>
            <a:ext cx="96758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975C0-8960-498F-BF7F-088C488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12115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主链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E8895-8325-4EAC-A898-27BCBB4C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301" y="2301586"/>
            <a:ext cx="843763" cy="2441864"/>
          </a:xfrm>
          <a:prstGeom xmlns:a="http://schemas.openxmlformats.org/drawingml/2006/main" prst="roundRect">
            <a:avLst>
              <a:gd name="adj" fmla="val 13546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5F936-817E-4831-9BE1-5B6F163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76" y="2130136"/>
            <a:ext cx="96758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AAABC-7C25-4CE5-8E04-6F0031D5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" y="4838700"/>
            <a:ext cx="12115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7FE31-59CC-42E8-8062-A31EB3E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881" y="2301586"/>
            <a:ext cx="843763" cy="2441864"/>
          </a:xfrm>
          <a:prstGeom xmlns:a="http://schemas.openxmlformats.org/drawingml/2006/main" prst="roundRect">
            <a:avLst>
              <a:gd name="adj" fmla="val 13546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5BFA4-E11B-43D3-90B5-BE6D16DD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256" y="2130136"/>
            <a:ext cx="96758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43E23-F18B-49FA-BD68-F9AFB84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0" y="4838700"/>
            <a:ext cx="12115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确定性/恢复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4C795-275A-4D1E-AC0F-7E6ADD5D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461" y="2301586"/>
            <a:ext cx="843763" cy="2441864"/>
          </a:xfrm>
          <a:prstGeom xmlns:a="http://schemas.openxmlformats.org/drawingml/2006/main" prst="roundRect">
            <a:avLst>
              <a:gd name="adj" fmla="val 13546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FDC5E-B58E-4940-88FC-2FEB277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836" y="2130136"/>
            <a:ext cx="96758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5FAD7-6288-45F9-A31A-E7B4CA5A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4838700"/>
            <a:ext cx="12115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鲁棒性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1187E-9765-4D98-A66B-675545B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041" y="2301586"/>
            <a:ext cx="843763" cy="2441864"/>
          </a:xfrm>
          <a:prstGeom xmlns:a="http://schemas.openxmlformats.org/drawingml/2006/main" prst="roundRect">
            <a:avLst>
              <a:gd name="adj" fmla="val 13546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75CFF-A038-4DB1-9B25-8779BD75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416" y="2130136"/>
            <a:ext cx="96758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AEBDF-A4E6-44BB-A499-20C3D453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420" y="4838700"/>
            <a:ext cx="12115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合同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09C8D0-0E18-4B73-8C1B-39645A0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6385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B67A1D-C773-4C4C-8B3E-0A6B091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0E3A9D-7FA1-47DB-A09F-6D3C80B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83680-E5F3-4CC1-ABE9-9BB51D6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主链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725DD9-8D8C-4B78-8511-3CE1536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UC 主链输出与 evidence provenance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D9E2C2-619A-4DA9-8B3E-003A85A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6385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EA5321-E141-4089-B198-E0899E63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E50284-EA5C-4C93-BFC3-D77273A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3 + 3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227283-9FE5-47DC-8587-9A4E8B5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7187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迁移与确定性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3573CC-10AE-4588-8C8A-88A5EEB8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9572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Legacy/LangGraph parity · 三连跑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12859E-3E0E-4B78-8B84-AF68D84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6385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A0CC48-36EE-48BA-802E-64859D9C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0DDE6D-816E-46E4-8260-40F512A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4 + 3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2D4557-705A-4E81-9C82-5697DD4C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鲁棒性与合同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77C7CB-A1F3-402A-8229-239D15D3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768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预算降级 / OOD / schema / export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A49514-7B5E-4E63-84EB-98F0623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柱顶均为 100%；样本数分别为 14、3、3、4、3。</a:t>
            </a:r>
          </a:p>
        </p:txBody>
      </p:sp>
    </p:spTree>
    <p:extLst>
      <p:ext uri="{BB962C8B-B14F-4D97-AF65-F5344CB8AC3E}">
        <p14:creationId xmlns:p14="http://schemas.microsoft.com/office/powerpoint/2010/main" val="1548011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150B7C-95FA-4BF9-AFBD-A7313C50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F9930-B5B1-4EC7-B066-8C128CA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主 Benchmark 耗时：确定性三连跑是主要长尾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DE089-7663-4274-9E29-234432E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367BE-17B1-4043-A8D4-B0B3BEC5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2E22D-CBC3-4E26-9B34-45E2A052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8105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BDA38-1B46-4F26-86D8-072684C8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81575"/>
            <a:ext cx="6534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51D8B-67D4-4DB6-9619-F0B8A52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00BFD-DF1D-489C-A85D-53660216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6534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AABE0-EF1E-4C6F-B11A-47D96EB5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75563-88A7-46B9-98F8-CCE87652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95675"/>
            <a:ext cx="6534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07636-F3DE-4B23-8E05-F30EA4F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22AA1-7BAC-4380-9E79-58D65A13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6534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665DB-1A7B-4FB4-A145-00A4F10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3.8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21AFC-9159-47DC-BB5C-2A2ACE8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9775"/>
            <a:ext cx="65341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B47CB-0CE0-42CD-8F31-5022C592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96601-993E-4C53-8BB3-EB96F55A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12" y="4125697"/>
            <a:ext cx="399115" cy="855878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80404-8595-4182-88E1-ED6BA81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687" y="3954247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1.44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3FD35-C282-438A-BB8E-5F086F3D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B0626-3FF1-45A2-B1CB-8783CAE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326" y="3323311"/>
            <a:ext cx="399115" cy="1658264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667AD-4BA8-495F-8527-2A5803B8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01" y="3151861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2.79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9CCCB-1D1F-42B1-B830-055D637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164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ACA5A-1B2B-4541-AEEC-435FC807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339" y="2509037"/>
            <a:ext cx="399115" cy="2472538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B5211-33CE-4EC8-A665-64209B3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714" y="2337587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4.16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3C647-D5C8-48F4-AA6B-05A4DCC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177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F8EC1-F2F0-451F-967B-4CD3430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53" y="4018712"/>
            <a:ext cx="399115" cy="962863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19957-8410-4B1A-AE10-506FF1D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728" y="3847262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1.62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16E91C-C72A-4D01-9DB4-C9B449F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191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85732-A32B-4E22-ABD9-D29A7D40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366" y="3269818"/>
            <a:ext cx="399115" cy="1711757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FC475C-334D-4AC9-8220-D546350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41" y="3098368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2.88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26C214-723D-41E3-9C25-AE7A6E8D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205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BBC4E-BE1B-4AC1-9B4B-11F6EE1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380" y="4185133"/>
            <a:ext cx="399115" cy="796442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20D9F-4DBA-4DAE-A84A-D065824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755" y="4013683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1.34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9F0726-B886-474F-A1D9-856B5EB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218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6F9C1C-FF4D-4A9C-A1F6-71AB324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394" y="4500143"/>
            <a:ext cx="399115" cy="481432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3116E0-6176-4433-93E6-C5B2419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769" y="4328693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B94457-D71D-4ABC-B90B-E588BE0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232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03090-D275-44BA-9F21-2A70F660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407" y="4535805"/>
            <a:ext cx="399115" cy="445770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D60C45-9797-4D17-B604-9042E289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82" y="4364355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0E635C-51CB-430D-887A-6B688143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245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B51718-2BF8-464A-A006-36558FC3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421" y="4972050"/>
            <a:ext cx="39911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EE160C-FABB-4D61-BCEC-79B27F20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796" y="4800600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0.00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496C73-91F8-444A-8F0E-43F8742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259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5437F9-E7D6-406C-BF31-C6A9830A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35" y="4972050"/>
            <a:ext cx="39911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53AA9-13BF-4D5C-9738-E4FC7F6D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810" y="4800600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0.00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9ED61C-784E-47DB-B2F8-A82EA110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273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B5D560-56C2-4DEF-81C0-9675EE39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448" y="4345610"/>
            <a:ext cx="399115" cy="635965"/>
          </a:xfrm>
          <a:prstGeom xmlns:a="http://schemas.openxmlformats.org/drawingml/2006/main" prst="roundRect">
            <a:avLst>
              <a:gd name="adj" fmla="val 28638"/>
            </a:avLst>
          </a:prstGeom>
          <a:solidFill xmlns:a="http://schemas.openxmlformats.org/drawingml/2006/main">
            <a:srgbClr val="3F8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A14094-E083-47BB-A6CF-62056A80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823" y="4174160"/>
            <a:ext cx="5229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CE2087-507C-4BE4-A97F-B98D46F2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86" y="5076825"/>
            <a:ext cx="5940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BM-11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5C701A-931E-4606-9A08-A08CF349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DA45F8-710D-4CE6-A245-FE0B0F1B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EDDAD2-C7C4-499A-87E7-EB16667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38325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4.16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2D1F96-2011-4521-B3F9-3CF72C97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A351D9-96D2-4198-9E7A-5A24929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574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三次确定性运行，因此耗时最高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3CBB43-E5A2-4A2A-B3D7-4A41EAE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2ECD99-2075-4348-9C59-0A0637C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E9F768-F4B4-4362-AE5C-B4EDE5EA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0.00 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2C82A8-BF7C-4999-8145-EBF56DE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BM-09 / 10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DEA81E-D14A-40E9-AA6D-A64AAC9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纯合同与 schema 检查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802438-06B7-43A9-B131-7A0EE93B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观察值来自 runner 报告；整条命令墙钟约 21.7 秒。</a:t>
            </a:r>
          </a:p>
        </p:txBody>
      </p:sp>
    </p:spTree>
    <p:extLst>
      <p:ext uri="{BB962C8B-B14F-4D97-AF65-F5344CB8AC3E}">
        <p14:creationId xmlns:p14="http://schemas.microsoft.com/office/powerpoint/2010/main" val="1138763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7536E8-54ED-4B36-AB1A-247659D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DISEASE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075F2-3273-4A72-AF58-F5C4A09F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疾病矩阵：18 个疾病在四类任务桶中全部通过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FBFB-3E49-49ED-8056-DA28339D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0C84A-1D5E-49EC-92C9-21EE098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D8FF4-5AAC-4A88-9657-F591C585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C5988-D64E-49AC-891D-DB57F97F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任务桶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88D8A-EB02-416F-97FA-376D853C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71625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B1FB-E7AC-436D-BFBF-EDB7BB5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任务数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FC8F0-A102-4803-8393-3C0BFC6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71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A02A1-CD8D-4221-87BE-356DA631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38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断言数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FA175-BB71-4C60-B885-215582C5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71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57E61-2DCE-4E29-AC50-0813B5D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38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3D2EE-576E-418D-90C4-FEE78F3D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E692C-D3DE-4302-8D2C-80EC8C2F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8A60C-DC22-4E7F-853C-6E4FE92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13C31-5E1B-4630-84E6-79889476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DBE94-F677-4A83-9C0E-0A62C669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F76C2-C149-4A67-9EC8-C246B7A7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A4C1D-B14B-4B00-A240-EDD7E02D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431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2BAFF-DD5E-446A-93C8-4E6D35D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91AC6-686C-4796-A0DF-A868D67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B1FD6-D5B0-4424-A51D-1C329E83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missing_context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B46C1-E380-44AF-A50B-A698E108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BE37F-5CCF-4721-8408-B8181FDE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80D82F-C169-4B5B-9E73-32D96724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14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D1DC66-2D2A-4364-AB3D-0550372B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50E05-E246-4F36-B2D7-11A0AC4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C191C9-9E47-4E46-9069-AD54BF36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5A03C-18FF-4257-97CF-32581AF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DD9770-B180-4587-8602-B9B03779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conflicting_evidence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CF2DA-BF1D-4AA6-898F-9B2E5F3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86125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4E5C3-5444-474B-B06C-B8CB649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71BE4-08C1-4117-A5D0-2DF4FB5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861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221A8F-5F55-41C7-9F91-EED245A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58BCB-2740-42F5-8EDA-28394E9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47C78C-843B-43FB-A4D1-EFEB025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528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6DE45-0D21-43D6-992D-74AD27F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8E76EC-6D54-4750-A128-74979038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trap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554ADC-99DF-47BA-BF8E-4EF56254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57625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04A056-B51C-47A6-91A4-17419E4C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4C0E34-F7C5-4A15-B39A-799C4969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57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A1B459-5C63-471D-9EE7-54658308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24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F23063-A723-4B44-91AC-46A70D5F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57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665271-1EE3-4268-8B8B-E5AAC06D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24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8BA381-E1BD-45D3-A5A6-E811F1D1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21145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EDA4B6-2A0B-4D18-9600-AC8E81B3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F53AC1-953C-4A72-B71D-DDCE270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4307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72 / 72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1FBBF2-C59B-4CEE-A18D-E573BB35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3837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DE5346-D1EA-4A0A-960B-9611A1A5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62225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18 疾病 × 4 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569972-844E-4537-8ABF-9626FBF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21145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B0F962-2D7C-4E72-A211-DF1BA4D7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9EAA2C-9626-46F6-940B-E5CB2C6D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234 / 234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E1EFC3-F3E3-4FBE-BAE5-483F83A3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10000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断言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A601BE-6B8A-417F-8B22-041ACD5F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trap 额外检查因果边界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5E2BEF-3106-47CE-99DA-06E52D60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112776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AD34B6-9AD5-471C-A24F-92F99836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覆盖面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30C921-B334-483C-9CBB-060C573D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正常路径 · 缺失上下文 · 冲突证据 · 因果陷阱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F8D1E1-A68F-435C-9E48-E99811DE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435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疾病 Goldset 生成一致性检查也已通过。</a:t>
            </a:r>
          </a:p>
        </p:txBody>
      </p:sp>
    </p:spTree>
    <p:extLst>
      <p:ext uri="{BB962C8B-B14F-4D97-AF65-F5344CB8AC3E}">
        <p14:creationId xmlns:p14="http://schemas.microsoft.com/office/powerpoint/2010/main" val="1871669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02C223-4464-428A-8D70-EB2125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DISEASE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07B8-AA7E-4FEB-8996-AA54882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疾病任务耗时稳定，首个 UC 上下文承担初始化成本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CCCE-ACC9-4993-9182-0BA9503B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9B10E-842E-4BDB-8E58-D49D5D7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B107-BBEB-4749-AF27-A2E856E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7239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206E3-7116-4973-9FCC-2AAC0295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00575"/>
            <a:ext cx="596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BFED8-444D-42D0-86A0-9190B0A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39F2D-7084-42CA-B4B9-EAD0989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00500"/>
            <a:ext cx="596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B9C4D-70B9-4E81-8016-A56EA388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0452A-B0AD-436C-A58B-68B0D2E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400425"/>
            <a:ext cx="596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60AD1-F494-4EFD-A133-B234D2AC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242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7DA12-E4B3-4722-8670-B4942A0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00350"/>
            <a:ext cx="596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B3F31-7B32-433C-9579-9220361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5E6AA-A18F-422E-88BC-589CE7EE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00275"/>
            <a:ext cx="596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90207-412B-4A85-ADA6-05EDA45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3.0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E582D-C1ED-4449-B662-62445AC4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468" y="3564446"/>
            <a:ext cx="1044702" cy="1036129"/>
          </a:xfrm>
          <a:prstGeom xmlns:a="http://schemas.openxmlformats.org/drawingml/2006/main" prst="roundRect">
            <a:avLst>
              <a:gd name="adj" fmla="val 11031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407CC-ED7A-4842-9AF8-4F9C8A2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843" y="3392996"/>
            <a:ext cx="116852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0938C-9D82-470F-A6B2-B5FD198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95825"/>
            <a:ext cx="1490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平均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2AF84-675C-47B0-AF02-E19F3D08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130" y="3624453"/>
            <a:ext cx="1044702" cy="976122"/>
          </a:xfrm>
          <a:prstGeom xmlns:a="http://schemas.openxmlformats.org/drawingml/2006/main" prst="roundRect">
            <a:avLst>
              <a:gd name="adj" fmla="val 1171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585F8-D833-40F9-8B32-512F5126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505" y="3453003"/>
            <a:ext cx="116852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872C4-6865-4A59-A127-6536BB76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4695825"/>
            <a:ext cx="1490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中位数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4AFFF-0EA8-40B4-8650-63AC54F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93" y="3145193"/>
            <a:ext cx="1044702" cy="1455382"/>
          </a:xfrm>
          <a:prstGeom xmlns:a="http://schemas.openxmlformats.org/drawingml/2006/main" prst="roundRect">
            <a:avLst>
              <a:gd name="adj" fmla="val 10941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A40F4-726C-4772-A2F1-2E960EA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168" y="2973743"/>
            <a:ext cx="116852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1.82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6E9F4-F3E1-4D18-89A6-160DE1D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95825"/>
            <a:ext cx="1490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P95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8C9AE-8795-40B6-B4BE-4644CD70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455" y="2624328"/>
            <a:ext cx="1044702" cy="1976247"/>
          </a:xfrm>
          <a:prstGeom xmlns:a="http://schemas.openxmlformats.org/drawingml/2006/main" prst="roundRect">
            <a:avLst>
              <a:gd name="adj" fmla="val 10941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3BF24-2E60-49ED-9173-0ADF2F82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830" y="2452878"/>
            <a:ext cx="116852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2.47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5EC62-A8B8-4D03-9CA4-CAA50D96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763" y="4695825"/>
            <a:ext cx="1490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最大值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42347-272B-485A-90DB-C2583C4F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6385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5156F-781F-4D61-8D71-D4218FC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F4BD6-3762-4E72-B9CD-1FD44DA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430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1.295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0FC5F-5CF4-4145-B054-B84C4870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平均耗时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539EFC-3EB0-478D-A3BA-F285673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6222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72 个疾病任务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19B79-6BD3-4DBD-BB79-691F92B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6385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5FD77B-C810-4628-808F-655EE1ED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67CD4-50B8-4781-B2E9-87A6D552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718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1.819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165029-2951-45C0-8BD2-DF51243C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P95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BF02B-0680-4476-8AA0-029DA6E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9097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绝大多数任务集中在约 1.1–1.4 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41271-5DD5-40E0-92BD-E71CB372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6385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E8D99C-C15D-4CC3-B648-7828BF0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291F7E-D81F-4BFB-9150-87151FEE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005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2.470 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6D8673-862D-4167-A4E1-324CFAB1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9587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最大值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044E58-D171-4AD6-B0E0-8332AF0F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972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UC 首轮初始化抬高长尾</a:t>
            </a:r>
          </a:p>
        </p:txBody>
      </p:sp>
    </p:spTree>
    <p:extLst>
      <p:ext uri="{BB962C8B-B14F-4D97-AF65-F5344CB8AC3E}">
        <p14:creationId xmlns:p14="http://schemas.microsoft.com/office/powerpoint/2010/main" val="901721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349CBB-6240-47FD-A947-4CC5770B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RELATION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11A2F-AB34-4906-A4C4-5530C264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关系评测：145 条样本按疾病隔离切分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80243-3E35-4ADF-AFC4-669B5FC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62736-00E0-4A3A-B4E1-8E268499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2C8B7-2DA2-4CCA-AD91-DD3A8997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238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C8151-5FB8-4945-A741-7BF95558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24000"/>
            <a:ext cx="57340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F71D6-7D6C-4515-8E39-3B693862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F97C7-D88D-4947-A015-DB711BF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5542C-9BF9-4D89-94A2-12AD89B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1438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681B7-7F91-40B0-B0C8-24FB294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5238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E91E0-944E-4C4F-99A1-CA940B6B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8F35C-137B-489A-B36D-C1E2846C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BB658-2865-4126-B32A-4ACA919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8913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E78E1-AB2D-4546-A291-1E6C1A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2713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35696-6932-4191-9A9A-0CCC63C8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405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F4768-5755-4B94-979A-DA6B8227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73BA1-8242-4E8B-962C-C8182306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457" y="2504676"/>
            <a:ext cx="945261" cy="1953024"/>
          </a:xfrm>
          <a:prstGeom xmlns:a="http://schemas.openxmlformats.org/drawingml/2006/main" prst="roundRect">
            <a:avLst>
              <a:gd name="adj" fmla="val 120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852A9-BADA-4519-9ED3-057B956B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2" y="2333226"/>
            <a:ext cx="106908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81.0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7A620-68EE-45D8-A53F-4F86D587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6E8AB-833C-43E4-AD1D-19F4D558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007" y="3686135"/>
            <a:ext cx="945261" cy="771565"/>
          </a:xfrm>
          <a:prstGeom xmlns:a="http://schemas.openxmlformats.org/drawingml/2006/main" prst="roundRect">
            <a:avLst>
              <a:gd name="adj" fmla="val 14814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8614A-FFF0-48CE-B957-0F78D33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82" y="3514685"/>
            <a:ext cx="106908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32.0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A4B48-2615-4FCB-8193-9D0BAD5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F8DCA-0CCD-43DE-A526-ABBC63F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557" y="3686135"/>
            <a:ext cx="945261" cy="771565"/>
          </a:xfrm>
          <a:prstGeom xmlns:a="http://schemas.openxmlformats.org/drawingml/2006/main" prst="roundRect">
            <a:avLst>
              <a:gd name="adj" fmla="val 14814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F3B37-6E79-43EA-8699-97FE2C27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32" y="3514685"/>
            <a:ext cx="106908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32.0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3FAC6-5B7A-4E77-AF4C-4C2F427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52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F8C3E-FE7A-491D-8004-26A9A696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57700"/>
            <a:ext cx="4552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ACD33-A2EF-4AF8-BDB4-9C3992D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CBAB5-CAA3-4EEF-ADC9-7BC49D76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1438"/>
            <a:ext cx="4552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E278E-FDE2-4286-9984-66615ED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5238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FD6D8-3276-464E-B1FE-AB2CE62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05175"/>
            <a:ext cx="4552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99DC0-D33F-4B6D-B2CD-3B2BC22E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289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E7CF8F-7455-4F18-88CD-94254A5D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8913"/>
            <a:ext cx="4552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E1D3B8-1DFE-4CF6-B368-0018D394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52713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C77BC-2A71-4160-82B9-BD59D46A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52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F13CA2-0702-4DB2-B2F2-439CD84F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F1BC6-50B9-4DCB-9875-6BE3F28A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003" y="2505627"/>
            <a:ext cx="790956" cy="1952073"/>
          </a:xfrm>
          <a:prstGeom xmlns:a="http://schemas.openxmlformats.org/drawingml/2006/main" prst="roundRect">
            <a:avLst>
              <a:gd name="adj" fmla="val 14451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4B30A7-E78B-4C35-ACF1-E994837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378" y="2334177"/>
            <a:ext cx="91478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73.0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0A1173-9B8E-444F-A3FD-E2F647B9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11382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锚点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B683D5-C28F-4957-A85C-650D351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241" y="3976367"/>
            <a:ext cx="790956" cy="481333"/>
          </a:xfrm>
          <a:prstGeom xmlns:a="http://schemas.openxmlformats.org/drawingml/2006/main" prst="roundRect">
            <a:avLst>
              <a:gd name="adj" fmla="val 23747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935B94-521F-4087-B914-3938E8C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616" y="3804917"/>
            <a:ext cx="91478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4C7923-B4DF-4D1A-8BA5-7301BFE2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888" y="4552950"/>
            <a:ext cx="11382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完整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99DE79-24DB-44F5-8DA2-715A93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478" y="3976367"/>
            <a:ext cx="790956" cy="481333"/>
          </a:xfrm>
          <a:prstGeom xmlns:a="http://schemas.openxmlformats.org/drawingml/2006/main" prst="roundRect">
            <a:avLst>
              <a:gd name="adj" fmla="val 23747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ECF26D-0CFA-4C6F-8BD6-58AF5C1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853" y="3804917"/>
            <a:ext cx="91478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5C4904-861F-4EB5-9CCE-EABD8CD7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52950"/>
            <a:ext cx="11382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47C5CB-8D72-48C6-863C-8D113AE4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716" y="3495034"/>
            <a:ext cx="790956" cy="962666"/>
          </a:xfrm>
          <a:prstGeom xmlns:a="http://schemas.openxmlformats.org/drawingml/2006/main" prst="roundRect">
            <a:avLst>
              <a:gd name="adj" fmla="val 14451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5F7FAD-7D18-413B-83F8-AAB7CDE2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091" y="3323584"/>
            <a:ext cx="91478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36.0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80D16-904A-434F-8642-3903CFF0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363" y="4552950"/>
            <a:ext cx="11382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错配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B592D7-6595-441E-BCD2-3EA17405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Split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486BC0-6B25-40C1-80E6-046B4266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Gold 标签构成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3BC9D3-5414-446D-B795-8B1C6BA1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3D718E-3B14-45DD-866E-2CB688C2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同一疾病的样本只进入一个 split，避免疾病级信息泄漏。</a:t>
            </a:r>
          </a:p>
        </p:txBody>
      </p:sp>
    </p:spTree>
    <p:extLst>
      <p:ext uri="{BB962C8B-B14F-4D97-AF65-F5344CB8AC3E}">
        <p14:creationId xmlns:p14="http://schemas.microsoft.com/office/powerpoint/2010/main" val="1328046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DF1EC8-F28B-4FE0-B93D-1A7A82EC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RELATION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6FE1A-896F-41C1-B076-A5A91DB6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上下文盲基线暴露了 37.2 个百分点的理解缺口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5F355-4E48-4347-AF00-84FA2D35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C9CE3-5B09-403B-863B-1E3A5E2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ABF73-252F-4489-A8C0-9582C4D6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810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93EFA-554A-4E84-A2CB-2A47244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6629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12FE8-E87E-4C5F-BB48-47E5B1A2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51A90-0BEB-4532-997E-5C27E7BC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48138"/>
            <a:ext cx="6629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83CF6-49B7-4989-BE0B-A154E9E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1938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59A72-849B-4101-8C56-D147FDAB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6629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B473D-AB3B-44F7-ACB4-2A012665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B6EA0-B45C-4EB2-8EE1-0AC6590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7513"/>
            <a:ext cx="6629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D328A-55CE-491E-9A89-D953565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1313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553AF-C04C-4CB5-ACC8-B63422B9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6629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10FAF-A365-4511-8C43-E09ED874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E8445-984A-43E3-ADFA-16B78160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129" y="2578677"/>
            <a:ext cx="568071" cy="2164773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D0E65-8D9D-44AF-9661-7E44449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04" y="2407227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6515E-0091-4701-9868-54A99DD5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78677"/>
            <a:ext cx="568071" cy="2164773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FE137-C8BC-4131-94BF-2C92BC4E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07227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AA88B-F80C-4238-A855-E20C8921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覆盖率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C186F-CE67-4258-9837-152B39D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79" y="3384869"/>
            <a:ext cx="568071" cy="1358581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4378D-4902-45CB-A38A-EA62214E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54" y="3213419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62.8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7E895-5877-42F4-ACE0-22323145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8677"/>
            <a:ext cx="568071" cy="2164773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1878A-53B5-45CC-B9E5-C777B87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7227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6867D-A008-44D1-B696-ED2BCF8C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标签准确率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9F336-33DC-4A3B-81DA-4389326C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829" y="3384869"/>
            <a:ext cx="568071" cy="1358581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6F0C1-1489-4201-94F8-D2FBB52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204" y="3213419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62.8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D29D1-6020-4779-A338-1FC9E423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78677"/>
            <a:ext cx="568071" cy="2164773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973CE-3FFC-4054-9C5E-4027335F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7227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2B4E7-94EF-42F4-93BE-316DD2FE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必要动作召回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949C12-F28D-4720-B728-029F3FA3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179" y="2578677"/>
            <a:ext cx="568071" cy="2164773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6976C-4408-43E6-8FB0-1678B219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554" y="2407227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6EBFAF-BE0E-476C-86C7-0B97AD75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8677"/>
            <a:ext cx="568071" cy="2164773"/>
          </a:xfrm>
          <a:prstGeom xmlns:a="http://schemas.openxmlformats.org/drawingml/2006/main" prst="roundRect">
            <a:avLst>
              <a:gd name="adj" fmla="val 20121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E8231-1FED-4678-8D46-C4077F4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7227"/>
            <a:ext cx="69189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7FE44D-2436-4425-9E0A-37046A48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禁用声明安全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30880-D53D-4A23-B60F-03158377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F5F8CE-18AB-45D9-988A-C7A985E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上下文盲基线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B14153-10DA-490E-8A80-FD6E0A07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59E010-BD47-4582-B718-0C22B0B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Gold / 评分器自检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9A1596-5AB8-4673-A2C5-F1319FC0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9F32BA-D510-4BE3-9897-5C5B3C0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02F2F9-7043-4EFC-9BFD-27D6BE71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954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62.8%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248732-0E05-4DCF-81BE-2AFA63A6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label / action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40F3D7-676F-44DF-B39C-F20071B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盲基线把所有上下文化样本都判为完整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25E457-A425-426B-BFE2-CE42064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4EA650-56E5-406F-B383-212D9427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01DA1E-947B-4CFE-9DF1-538B4498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62325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1C7A3A-D4EB-48CB-9586-942C7C12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57625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coverage / safety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36A519-D2C7-4622-8D2F-18ED4864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814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无遗漏，也没有输出禁用声明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AD1221-2381-4BD2-8D22-E5B266E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006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Oracle = scorer 完整性检查，不是 Agent 性能。</a:t>
            </a:r>
          </a:p>
        </p:txBody>
      </p:sp>
    </p:spTree>
    <p:extLst>
      <p:ext uri="{BB962C8B-B14F-4D97-AF65-F5344CB8AC3E}">
        <p14:creationId xmlns:p14="http://schemas.microsoft.com/office/powerpoint/2010/main" val="1337585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7CE6E9-E982-4C5B-8989-9C87F102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C8C7B-2D58-44AA-9164-60861CA6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关键步骤记分卡：每个重要环节都有可追溯指标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F6988-7788-48A1-BF47-BDFDF1F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29039-1ACD-46F7-B584-342F99D5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4CCCE-00EA-4574-9C2A-71CBE61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53667-26EF-4485-8772-0F53D55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3CFBD-2E24-4AE3-A8C0-C9A41C7C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7637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61012-1BDC-457E-94E6-B38FCE59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430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1A389-6063-41E7-9316-4C26990D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7637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BC51A-F0E5-4E25-A3C5-CE9F6AB5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430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D4094-4517-4F28-8413-07560CAD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763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EA86F-74F1-43BD-843C-3D4F64EC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430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384F-093A-4401-A7F8-707D1FC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19A89-6E79-4BC1-BD0B-B647156F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Goldset 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04A60-CC80-4014-BC84-AD9C688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1452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DFE37-948A-43DF-BAC2-ADAE9466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字节一致 · Schema 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E34C8-EA8E-42CC-AF18-5AC77310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1452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954F7-1FA2-41DC-B767-04B5D24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145 / 145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F7103-A531-4BDA-9C8E-BA8B441B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145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0E69C-F670-4888-97FA-8358B92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5E7AB-3756-4365-BD24-E5B2AF7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0FB62-6F99-451A-9E3E-BD72CC91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任务规划与主链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24558-8AD9-4072-BB39-68AEB3A4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5267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560D2-D9B6-437A-BB68-78E0CC06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193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BM-01 主链断言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59C4D-2062-433E-AA6E-E3EE8B1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5267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81D97-448D-46EF-B9F4-09130F6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E0A4F-1AC8-4EFC-A4DE-64AE273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526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0B9B2-C0A7-4AD7-9B19-3D7930F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2C63F2-4570-4972-9848-2CB2B75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4E40F-1722-4E85-A1B0-9C45F54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迁移兼容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4D0E21-F54D-41DC-A267-5DC94AE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9082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68E6D-BD35-4023-9854-41231CA3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Legacy / LangGraph parity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EBB95-9BE8-4621-905E-7A01BDC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9082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547F5D-8804-4FCB-982A-F33E9DB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911A80-FD91-40AE-974B-35F0CEF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11534A-3B70-48C9-B40C-B3E24EFE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FDBEF2-BF63-49CD-8CFB-9F9FA44F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B3CB23-EBC7-4CC0-9AC2-B8E21BC9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确定性与恢复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166C90-BEE4-42DF-940D-DBA3DBEB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2897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B22E2-C232-486A-AA15-78F03F1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956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deterministic / resume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361177-640F-482F-8685-9754A28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2897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40925-7434-4C35-82D6-E9B0927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BBE37-AE95-4AEB-B97B-7F272647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1D787F-C984-4FF9-8B77-A400BCDD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134928-AA4C-413D-A79E-E9EF71D6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82447A-615F-4F0A-B914-C22370DA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鲁棒性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35E4C6-B7AC-43F8-8B73-462E0DDA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6712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93703F-7973-42F8-B90B-0158CBC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338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预算降级 + OOD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AA3AC2-9554-456F-8519-60B9C567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6712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6F027F-AE4F-4464-A5A9-F9DE7512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8E80FF-6F0C-4E24-AFDE-B7A5DF2C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671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551DCB-5505-4A95-8A89-5E10B4E3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3EB29B-60F5-4441-B723-69597CD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E3916B-C372-4C6C-A4E4-F6595E8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合同与 Schema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C75B0D-5C17-4C0C-978C-3F330C2F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79DD6D-BC63-4F4F-8722-F62ABDB5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version / whitelist / export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E57152-EE44-4715-83A2-5D542147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A0AB95-C7CC-43B9-8D67-9B263C8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4A5B92-9C80-4FB7-95F4-B34AEB60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052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1229B-A5F2-47B3-9F0D-50115382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E2D478-C3C3-492E-9BD3-C8E9460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434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E34978-1299-44C4-82C0-482B98A9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疾病泛化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95F346-B38D-4C12-BF90-237242E2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4342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AF6954-129A-4A12-AAA3-0F0C75D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101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18 疾病 × 4 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4B1A88-1812-4B72-8689-F17D2E1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4342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3E454D-A11E-4632-9C55-06FD25D1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101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234 / 234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7B7D7E-0350-47BA-A864-0840392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434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DC9515-B199-44DD-9450-99FF237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101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12EF20-02BF-4495-81AE-4BEBC0F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15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89A4EB-695F-49F1-B842-A3313291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关系上下文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DA01555-5C3D-4C0D-B2D1-83E50A9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8157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4E6DC2-781C-40B2-9010-AA0F8D2C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482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盲基线 label / 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120292-A64C-4C2C-93A4-D9B044D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8157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D7208D-2C5B-4182-BCFE-FAA8D64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482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62.8 / 62.8%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3030E1-DE68-4673-8C4E-F4463D3E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8157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D64681-10A2-4993-80F7-21698197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482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具有区分度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CB3FD10-E97F-435B-A0DC-7646D46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4D18D7-5FEA-4E66-85F0-B344C3A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代码回归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C19378-C71E-4EA3-93AB-5379AC7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19725"/>
            <a:ext cx="4095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58DE94-AB44-4F1D-AB8E-2A0043F2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864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pytest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EE423B-902A-4ACB-B167-D2D2234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19725"/>
            <a:ext cx="2000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DF687C7-A5B9-49AA-B2EF-F312B02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864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81 pass / 4 skip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DAC0B4-B78D-4BBE-8B17-ED57ED0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19725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7FC20E-EF6C-400C-8683-6D52FCE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864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998D54-B2D6-4697-9029-8299E09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通过 ≠ 已完成 live/GPU 验收；本页只汇总本地可复现质量信号。</a:t>
            </a:r>
          </a:p>
        </p:txBody>
      </p:sp>
    </p:spTree>
    <p:extLst>
      <p:ext uri="{BB962C8B-B14F-4D97-AF65-F5344CB8AC3E}">
        <p14:creationId xmlns:p14="http://schemas.microsoft.com/office/powerpoint/2010/main" val="24911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88EA0-6826-47A7-95D8-E87134CA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DA492-4451-4051-A660-145A1AD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下一步：把关系评测从 scorer 自检接到真实 Agent 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DDEEB-905D-40EC-BE67-FEBAA52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16756-1157-4378-9ED1-957C7E15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9C167-2488-47F2-A778-5C9BF8E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2F789-A68C-4585-887E-991C0CC3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6FABB-A094-40C2-9E72-8C1D93DE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28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接入输出适配器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2E3AE-3426-465F-8F23-9E9FB9F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335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读取 Planner / Reviewer 的 relation label、required actions 与 forbidden claims。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A1DB1-468C-4210-9A48-81D90B1F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7D4B3-86BF-4AEC-B855-38CCDC36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F007C-D047-4967-BD47-940F95E8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24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增强证据字段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C67DF-D828-42E6-86AD-0021968C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28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为 disease-target anchor 增加 PMID/DOI、方向证据与 cell/tissue/stage source span。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7846E-147B-44D3-9930-AD9E072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65940-2E73-47B3-8814-EC6954F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02424-455D-4792-BF9D-E20D3B46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9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建设时间外推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70BEB-0214-4178-90FC-C49E052A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243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加入 paper-level 与 2021–2024 / 2025 / 2026 time split，避免论文派生资产泄漏。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34BDF-3F22-405E-866A-D86DA1AA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7082E-B8DE-4F78-89FD-3451D3B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967C6-9B82-4C27-A7FA-460456D0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补齐部署验收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F09C3-F566-4EAE-BEC0-CA46D955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在远端 Python 3.11 acceptance profile 与 Reviewer LoRA GPU profile 复跑。</a:t>
            </a:r>
          </a:p>
        </p:txBody>
      </p:sp>
    </p:spTree>
    <p:extLst>
      <p:ext uri="{BB962C8B-B14F-4D97-AF65-F5344CB8AC3E}">
        <p14:creationId xmlns:p14="http://schemas.microsoft.com/office/powerpoint/2010/main" val="916677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563AE-6BA2-4A2C-8827-3CA4E07F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TARGET · BENCHMARK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3130B-C5C3-4DE7-933F-0427BD63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本地质量闭环已完成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EA235-ECED-4C8E-85E1-28ED4320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2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8E2F0"/>
                </a:solidFill>
                <a:latin typeface="Microsoft YaHei"/>
                <a:ea typeface="Microsoft YaHei"/>
                <a:cs typeface="Microsoft YaHei"/>
              </a:rPr>
              <a:t>主链与疾病矩阵保持全绿；关系评测已经能区分“识别锚点”和“理解上下文”。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BC297-EA04-4CD7-85E7-F002042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1049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6CEF-DB94-4EE0-BED0-E0CE43A4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PR #12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3E362-1FA4-4ED9-965A-AD2A83E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报告与演示文稿均随分支更新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897C6-C890-4DA2-A1FE-49900689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EBBD0"/>
                </a:solidFill>
                <a:latin typeface="Microsoft YaHei"/>
                <a:ea typeface="Microsoft YaHei"/>
                <a:cs typeface="Microsoft YaHei"/>
              </a:rPr>
              <a:t>下一验收点：真实 Agent relation 输出 + Python 3.11 / live / GPU profiles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2DBE7-4C6E-4C24-9D4C-9E6D79E9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998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998AE"/>
                </a:solidFill>
                <a:latin typeface="Microsoft YaHei"/>
                <a:ea typeface="Microsoft YaHei"/>
                <a:cs typeface="Microsoft YaHei"/>
              </a:rPr>
              <a:t>2026-08-08</a:t>
            </a:r>
          </a:p>
        </p:txBody>
      </p:sp>
    </p:spTree>
    <p:extLst>
      <p:ext uri="{BB962C8B-B14F-4D97-AF65-F5344CB8AC3E}">
        <p14:creationId xmlns:p14="http://schemas.microsoft.com/office/powerpoint/2010/main" val="1404442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2026-08-08T07:47:28.6220000Z</dcterms:created>
  <dcterms:modified xsi:type="dcterms:W3CDTF">2026-08-08T07:47:28.6220000Z</dcterms:modified>
</coreProperties>
</file>