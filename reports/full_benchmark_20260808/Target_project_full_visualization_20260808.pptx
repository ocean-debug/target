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0cc4305964f58" /><Relationship Type="http://schemas.openxmlformats.org/officeDocument/2006/relationships/extended-properties" Target="/docProps/app.xml" Id="R661961583e044bb9" /><Relationship Type="http://schemas.openxmlformats.org/officeDocument/2006/relationships/officeDocument" Target="/ppt/presentation.xml" Id="Rbaae55292609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8745142d6421c"/>
  </p:sldMasterIdLst>
  <p:notesMasterIdLst>
    <p:notesMasterId xmlns:r="http://schemas.openxmlformats.org/officeDocument/2006/relationships" r:id="R224c2a10aeb14459"/>
  </p:notesMasterIdLst>
  <p:sldIdLst>
    <p:sldId xmlns:r="http://schemas.openxmlformats.org/officeDocument/2006/relationships" id="256" r:id="R32347761942141e3"/>
    <p:sldId xmlns:r="http://schemas.openxmlformats.org/officeDocument/2006/relationships" id="257" r:id="Rbf1fdcfbe34f43e8"/>
    <p:sldId xmlns:r="http://schemas.openxmlformats.org/officeDocument/2006/relationships" id="258" r:id="Rc48d4f19c9184be3"/>
    <p:sldId xmlns:r="http://schemas.openxmlformats.org/officeDocument/2006/relationships" id="259" r:id="R115959cb2b574955"/>
    <p:sldId xmlns:r="http://schemas.openxmlformats.org/officeDocument/2006/relationships" id="260" r:id="R12d23acfdb8e4201"/>
    <p:sldId xmlns:r="http://schemas.openxmlformats.org/officeDocument/2006/relationships" id="261" r:id="R029fb79fe9ce4aff"/>
    <p:sldId xmlns:r="http://schemas.openxmlformats.org/officeDocument/2006/relationships" id="262" r:id="R0e224eb095804cbb"/>
    <p:sldId xmlns:r="http://schemas.openxmlformats.org/officeDocument/2006/relationships" id="263" r:id="R88d3e87b6964424a"/>
    <p:sldId xmlns:r="http://schemas.openxmlformats.org/officeDocument/2006/relationships" id="264" r:id="R374298d0d4fa478b"/>
    <p:sldId xmlns:r="http://schemas.openxmlformats.org/officeDocument/2006/relationships" id="265" r:id="R61f461bae57f41d3"/>
    <p:sldId xmlns:r="http://schemas.openxmlformats.org/officeDocument/2006/relationships" id="266" r:id="R2fdba89d756c4f6c"/>
    <p:sldId xmlns:r="http://schemas.openxmlformats.org/officeDocument/2006/relationships" id="267" r:id="Rc42bfd7d4cf54010"/>
    <p:sldId xmlns:r="http://schemas.openxmlformats.org/officeDocument/2006/relationships" id="268" r:id="R8e93bd8762de4257"/>
    <p:sldId xmlns:r="http://schemas.openxmlformats.org/officeDocument/2006/relationships" id="269" r:id="R498e51133d82451b"/>
    <p:sldId xmlns:r="http://schemas.openxmlformats.org/officeDocument/2006/relationships" id="270" r:id="Rae1d9eb284a647ae"/>
    <p:sldId xmlns:r="http://schemas.openxmlformats.org/officeDocument/2006/relationships" id="271" r:id="Rd64c08f3c8b64830"/>
    <p:sldId xmlns:r="http://schemas.openxmlformats.org/officeDocument/2006/relationships" id="272" r:id="R8aa7c8b1330940ee"/>
    <p:sldId xmlns:r="http://schemas.openxmlformats.org/officeDocument/2006/relationships" id="273" r:id="Rf896bcface3d400d"/>
    <p:sldId xmlns:r="http://schemas.openxmlformats.org/officeDocument/2006/relationships" id="274" r:id="R74e3f8a29e254bdf"/>
    <p:sldId xmlns:r="http://schemas.openxmlformats.org/officeDocument/2006/relationships" id="275" r:id="R3918355eed3147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6169de714c43cc" /><Relationship Type="http://schemas.openxmlformats.org/officeDocument/2006/relationships/slideMaster" Target="/ppt/slideMasters/slideMaster1.xml" Id="R2c48745142d6421c" /><Relationship Type="http://schemas.openxmlformats.org/officeDocument/2006/relationships/notesMaster" Target="/ppt/notesMasters/notesMaster1.xml" Id="R224c2a10aeb14459" /><Relationship Type="http://schemas.openxmlformats.org/officeDocument/2006/relationships/presProps" Target="/ppt/presProps.xml" Id="R59ce796a651241db" /><Relationship Type="http://schemas.openxmlformats.org/officeDocument/2006/relationships/tableStyles" Target="/ppt/tableStyles.xml" Id="R60f4df3f64c641a7" /><Relationship Type="http://schemas.openxmlformats.org/officeDocument/2006/relationships/slide" Target="/ppt/slides/slide1.xml" Id="R32347761942141e3" /><Relationship Type="http://schemas.openxmlformats.org/officeDocument/2006/relationships/slide" Target="/ppt/slides/slide2.xml" Id="Rbf1fdcfbe34f43e8" /><Relationship Type="http://schemas.openxmlformats.org/officeDocument/2006/relationships/slide" Target="/ppt/slides/slide3.xml" Id="Rc48d4f19c9184be3" /><Relationship Type="http://schemas.openxmlformats.org/officeDocument/2006/relationships/slide" Target="/ppt/slides/slide4.xml" Id="R115959cb2b574955" /><Relationship Type="http://schemas.openxmlformats.org/officeDocument/2006/relationships/slide" Target="/ppt/slides/slide5.xml" Id="R12d23acfdb8e4201" /><Relationship Type="http://schemas.openxmlformats.org/officeDocument/2006/relationships/slide" Target="/ppt/slides/slide6.xml" Id="R029fb79fe9ce4aff" /><Relationship Type="http://schemas.openxmlformats.org/officeDocument/2006/relationships/slide" Target="/ppt/slides/slide7.xml" Id="R0e224eb095804cbb" /><Relationship Type="http://schemas.openxmlformats.org/officeDocument/2006/relationships/slide" Target="/ppt/slides/slide8.xml" Id="R88d3e87b6964424a" /><Relationship Type="http://schemas.openxmlformats.org/officeDocument/2006/relationships/slide" Target="/ppt/slides/slide9.xml" Id="R374298d0d4fa478b" /><Relationship Type="http://schemas.openxmlformats.org/officeDocument/2006/relationships/slide" Target="/ppt/slides/slide10.xml" Id="R61f461bae57f41d3" /><Relationship Type="http://schemas.openxmlformats.org/officeDocument/2006/relationships/slide" Target="/ppt/slides/slide11.xml" Id="R2fdba89d756c4f6c" /><Relationship Type="http://schemas.openxmlformats.org/officeDocument/2006/relationships/slide" Target="/ppt/slides/slide12.xml" Id="Rc42bfd7d4cf54010" /><Relationship Type="http://schemas.openxmlformats.org/officeDocument/2006/relationships/slide" Target="/ppt/slides/slide13.xml" Id="R8e93bd8762de4257" /><Relationship Type="http://schemas.openxmlformats.org/officeDocument/2006/relationships/slide" Target="/ppt/slides/slide14.xml" Id="R498e51133d82451b" /><Relationship Type="http://schemas.openxmlformats.org/officeDocument/2006/relationships/slide" Target="/ppt/slides/slide15.xml" Id="Rae1d9eb284a647ae" /><Relationship Type="http://schemas.openxmlformats.org/officeDocument/2006/relationships/slide" Target="/ppt/slides/slide16.xml" Id="Rd64c08f3c8b64830" /><Relationship Type="http://schemas.openxmlformats.org/officeDocument/2006/relationships/slide" Target="/ppt/slides/slide17.xml" Id="R8aa7c8b1330940ee" /><Relationship Type="http://schemas.openxmlformats.org/officeDocument/2006/relationships/slide" Target="/ppt/slides/slide18.xml" Id="Rf896bcface3d400d" /><Relationship Type="http://schemas.openxmlformats.org/officeDocument/2006/relationships/slide" Target="/ppt/slides/slide19.xml" Id="R74e3f8a29e254bdf" /><Relationship Type="http://schemas.openxmlformats.org/officeDocument/2006/relationships/slide" Target="/ppt/slides/slide20.xml" Id="R3918355eed3147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e41c65927945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1cdd9ece624591" /><Relationship Type="http://schemas.openxmlformats.org/officeDocument/2006/relationships/notesMaster" Target="/ppt/notesMasters/notesMaster1.xml" Id="Rd28dfbd899204e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96f8e28ae41d3" /><Relationship Type="http://schemas.openxmlformats.org/officeDocument/2006/relationships/notesMaster" Target="/ppt/notesMasters/notesMaster1.xml" Id="R592ea51ae7594d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480a314f946f1" /><Relationship Type="http://schemas.openxmlformats.org/officeDocument/2006/relationships/notesMaster" Target="/ppt/notesMasters/notesMaster1.xml" Id="Rafd22820ae7042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d71b7cf3a4c8a" /><Relationship Type="http://schemas.openxmlformats.org/officeDocument/2006/relationships/notesMaster" Target="/ppt/notesMasters/notesMaster1.xml" Id="R70ce38b6b68649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0f69046db644eb" /><Relationship Type="http://schemas.openxmlformats.org/officeDocument/2006/relationships/notesMaster" Target="/ppt/notesMasters/notesMaster1.xml" Id="R38fcef3d9e884e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4f952fa62c466b" /><Relationship Type="http://schemas.openxmlformats.org/officeDocument/2006/relationships/notesMaster" Target="/ppt/notesMasters/notesMaster1.xml" Id="R7f7d045a03e94d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34688ed5d640a1" /><Relationship Type="http://schemas.openxmlformats.org/officeDocument/2006/relationships/notesMaster" Target="/ppt/notesMasters/notesMaster1.xml" Id="R9517a4649edb44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072f5deb404dd6" /><Relationship Type="http://schemas.openxmlformats.org/officeDocument/2006/relationships/notesMaster" Target="/ppt/notesMasters/notesMaster1.xml" Id="R43a2af882c234d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f1938560d24feb" /><Relationship Type="http://schemas.openxmlformats.org/officeDocument/2006/relationships/notesMaster" Target="/ppt/notesMasters/notesMaster1.xml" Id="R90fd1b069a4743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3688523e004a58" /><Relationship Type="http://schemas.openxmlformats.org/officeDocument/2006/relationships/notesMaster" Target="/ppt/notesMasters/notesMaster1.xml" Id="R92a39de925254e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ef196db3594375" /><Relationship Type="http://schemas.openxmlformats.org/officeDocument/2006/relationships/notesMaster" Target="/ppt/notesMasters/notesMaster1.xml" Id="Rf077a523644e48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50fd68f4e04db7" /><Relationship Type="http://schemas.openxmlformats.org/officeDocument/2006/relationships/notesMaster" Target="/ppt/notesMasters/notesMaster1.xml" Id="Rab7d671d800b48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7026546da34093" /><Relationship Type="http://schemas.openxmlformats.org/officeDocument/2006/relationships/notesMaster" Target="/ppt/notesMasters/notesMaster1.xml" Id="R95d08eb5b8b24e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e55b5f780c4e82" /><Relationship Type="http://schemas.openxmlformats.org/officeDocument/2006/relationships/notesMaster" Target="/ppt/notesMasters/notesMaster1.xml" Id="R40318dc299a6419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c85f63186841d5" /><Relationship Type="http://schemas.openxmlformats.org/officeDocument/2006/relationships/notesMaster" Target="/ppt/notesMasters/notesMaster1.xml" Id="Rb249b181dcc94a2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0dcd47f8ff4ada" /><Relationship Type="http://schemas.openxmlformats.org/officeDocument/2006/relationships/notesMaster" Target="/ppt/notesMasters/notesMaster1.xml" Id="R457a9fbf9dd0469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511caf6e18d4857" /><Relationship Type="http://schemas.openxmlformats.org/officeDocument/2006/relationships/notesMaster" Target="/ppt/notesMasters/notesMaster1.xml" Id="Rf1309db3357240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17106b79134815" /><Relationship Type="http://schemas.openxmlformats.org/officeDocument/2006/relationships/notesMaster" Target="/ppt/notesMasters/notesMaster1.xml" Id="Rf1443f7571a248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e63a61f1b654505" /><Relationship Type="http://schemas.openxmlformats.org/officeDocument/2006/relationships/notesMaster" Target="/ppt/notesMasters/notesMaster1.xml" Id="Ra2fc3381705941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d914053f8440cb" /><Relationship Type="http://schemas.openxmlformats.org/officeDocument/2006/relationships/notesMaster" Target="/ppt/notesMasters/notesMaster1.xml" Id="Ref7280b166714c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项目全景汇报；归档矩阵是 fake/unit 回放，不是实时生物学验证。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reports/full_benchmark_20260808/project_metrics.json</a:t>
            </a:r>
          </a:p>
          <a:p xmlns:a="http://schemas.openxmlformats.org/drawingml/2006/main">
            <a:r>
              <a:t>- reports/full_benchmark_20260808/metrics_summary.json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PROJECT_CHARTER.md</a:t>
            </a:r>
          </a:p>
          <a:p xmlns:a="http://schemas.openxmlformats.org/drawingml/2006/main">
            <a:r>
              <a:t>- configs/workflow.yaml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configs/workflow.yaml</a:t>
            </a:r>
          </a:p>
          <a:p xmlns:a="http://schemas.openxmlformats.org/drawingml/2006/main">
            <a:r>
              <a:t>- src/target_agent/runtime.py</a:t>
            </a:r>
          </a:p>
          <a:p xmlns:a="http://schemas.openxmlformats.org/drawingml/2006/main">
            <a:r>
              <a:t>- src/target_agent/runtime_langgraph.py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reports/full_benchmark_20260808/project_metrics.json</a:t>
            </a:r>
          </a:p>
          <a:p xmlns:a="http://schemas.openxmlformats.org/drawingml/2006/main">
            <a:r>
              <a:t>- schemas/</a:t>
            </a:r>
          </a:p>
          <a:p xmlns:a="http://schemas.openxmlformats.org/drawingml/2006/main">
            <a:r>
              <a:t>- configs/disease_library.yaml</a:t>
            </a:r>
          </a:p>
          <a:p xmlns:a="http://schemas.openxmlformats.org/drawingml/2006/main">
            <a:r>
              <a:t>- runs_archive/matrix_full/entries/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configs/disease_library.yaml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configs/disease_library.yaml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configs/tools.yaml</a:t>
            </a:r>
          </a:p>
          <a:p xmlns:a="http://schemas.openxmlformats.org/drawingml/2006/main">
            <a:r>
              <a:t>- configs/workflow.yaml</a:t>
            </a:r>
          </a:p>
          <a:p xmlns:a="http://schemas.openxmlformats.org/drawingml/2006/main">
            <a:r>
              <a:t>- src/target_agent/tools/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reports/full_benchmark_20260808/project_metrics.json</a:t>
            </a:r>
          </a:p>
          <a:p xmlns:a="http://schemas.openxmlformats.org/drawingml/2006/main">
            <a:r>
              <a:t>- src/</a:t>
            </a:r>
          </a:p>
          <a:p xmlns:a="http://schemas.openxmlformats.org/drawingml/2006/main">
            <a:r>
              <a:t>- schemas/</a:t>
            </a:r>
          </a:p>
          <a:p xmlns:a="http://schemas.openxmlformats.org/drawingml/2006/main">
            <a:r>
              <a:t>- tests/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data/derived/uc_candidates.json</a:t>
            </a:r>
          </a:p>
          <a:p xmlns:a="http://schemas.openxmlformats.org/drawingml/2006/main">
            <a:r>
              <a:t>- https://www.ncbi.nlm.nih.gov/geo/query/acc.cgi?acc=GSE125527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data/derived/uc_perturbation.json</a:t>
            </a:r>
          </a:p>
          <a:p xmlns:a="http://schemas.openxmlformats.org/drawingml/2006/main">
            <a:r>
              <a:t>- https://www.ncbi.nlm.nih.gov/geo/query/acc.cgi?acc=GSE190604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nature_framework/results/fig3a_summary.json</a:t>
            </a:r>
          </a:p>
          <a:p xmlns:a="http://schemas.openxmlformats.org/drawingml/2006/main">
            <a:r>
              <a:t>- nature_framework/results/mch_sign_prediction.csv</a:t>
            </a:r>
          </a:p>
          <a:p xmlns:a="http://schemas.openxmlformats.org/drawingml/2006/main">
            <a:r>
              <a:t>- https://www.nature.com/articles/s41586-025-09866-3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归档矩阵是 stored fake/unit replay。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runs_archive/matrix_full/entries/</a:t>
            </a:r>
          </a:p>
          <a:p xmlns:a="http://schemas.openxmlformats.org/drawingml/2006/main">
            <a:r>
              <a:t>- reports/full_benchmark_20260808/project_metrics.json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runs_archive/matrix_full/entries/*/reviewer_findings.jsonl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runs_archive/matrix_full/entries/*/ranked_targets.json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runs_archive/matrix_full/entries/*/ranked_targets.json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alignment_data/manifest.json</a:t>
            </a:r>
          </a:p>
          <a:p xmlns:a="http://schemas.openxmlformats.org/drawingml/2006/main">
            <a:r>
              <a:t>- alignment_data/sft.jsonl</a:t>
            </a:r>
          </a:p>
          <a:p xmlns:a="http://schemas.openxmlformats.org/drawingml/2006/main">
            <a:r>
              <a:t>- alignment_data/preferences.jsonl</a:t>
            </a:r>
          </a:p>
          <a:p xmlns:a="http://schemas.openxmlformats.org/drawingml/2006/main">
            <a:r>
              <a:t>- alignment_data/heldout.jsonl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reports/full_benchmark_20260808/raw/pytest.xml</a:t>
            </a:r>
          </a:p>
          <a:p xmlns:a="http://schemas.openxmlformats.org/drawingml/2006/main">
            <a:r>
              <a:t>- reports/full_benchmark_20260808/raw/main/benchmark_report.json</a:t>
            </a:r>
          </a:p>
          <a:p xmlns:a="http://schemas.openxmlformats.org/drawingml/2006/main">
            <a:r>
              <a:t>- reports/full_benchmark_20260808/raw/diseases/benchmark_report.json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benchmark/goldset_context_relations.jsonl</a:t>
            </a:r>
          </a:p>
          <a:p xmlns:a="http://schemas.openxmlformats.org/drawingml/2006/main">
            <a:r>
              <a:t>- reports/full_benchmark_20260808/raw/relation_context_blind_report.json</a:t>
            </a:r>
          </a:p>
          <a:p xmlns:a="http://schemas.openxmlformats.org/drawingml/2006/main">
            <a:r>
              <a:t>- reports/full_benchmark_20260808/raw/relation_oracle_report.json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reports/full_benchmark_20260808/project_metrics.json</a:t>
            </a:r>
          </a:p>
          <a:p xmlns:a="http://schemas.openxmlformats.org/drawingml/2006/main">
            <a:r>
              <a:t>- reports/full_benchmark_20260808/metrics_summary.json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reports/full_benchmark_20260808/Target_project_full_visualization_report_20260808.docx</a:t>
            </a:r>
          </a:p>
          <a:p xmlns:a="http://schemas.openxmlformats.org/drawingml/2006/main">
            <a:r>
              <a:t>- DECISION_LOG.md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6b9ec57b442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188309b416436e" /><Relationship Type="http://schemas.openxmlformats.org/officeDocument/2006/relationships/slideLayout" Target="/ppt/slideLayouts/slideLayout1.xml" Id="Rd56258bdddcc4e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258bdddcc4e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f6268ce114c84" /><Relationship Type="http://schemas.openxmlformats.org/officeDocument/2006/relationships/notesSlide" Target="/ppt/notesSlides/notesSlide1.xml" Id="Rb95d31240cad4e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de213212645a4" /><Relationship Type="http://schemas.openxmlformats.org/officeDocument/2006/relationships/notesSlide" Target="/ppt/notesSlides/notesSlide2.xml" Id="Rd0f09edd04204e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aa2b22cb840f8" /><Relationship Type="http://schemas.openxmlformats.org/officeDocument/2006/relationships/notesSlide" Target="/ppt/notesSlides/notesSlide3.xml" Id="R1b8b398bd1cb44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43a84ae6140ce" /><Relationship Type="http://schemas.openxmlformats.org/officeDocument/2006/relationships/image" Target="/ppt/media/image.png" Id="R58a64194b4f64e3b" /><Relationship Type="http://schemas.openxmlformats.org/officeDocument/2006/relationships/notesSlide" Target="/ppt/notesSlides/notesSlide4.xml" Id="R97b94c49b22a4e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484f1c78e4aa2" /><Relationship Type="http://schemas.openxmlformats.org/officeDocument/2006/relationships/image" Target="/ppt/media/image2.png" Id="Rd8266c6b65af41be" /><Relationship Type="http://schemas.openxmlformats.org/officeDocument/2006/relationships/notesSlide" Target="/ppt/notesSlides/notesSlide5.xml" Id="Rb8a0cb805fcb4e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6830eceb34ac6" /><Relationship Type="http://schemas.openxmlformats.org/officeDocument/2006/relationships/image" Target="/ppt/media/image3.png" Id="Ra64700b58b404132" /><Relationship Type="http://schemas.openxmlformats.org/officeDocument/2006/relationships/notesSlide" Target="/ppt/notesSlides/notesSlide6.xml" Id="R1d4697bb236243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b30ae884540dd" /><Relationship Type="http://schemas.openxmlformats.org/officeDocument/2006/relationships/notesSlide" Target="/ppt/notesSlides/notesSlide7.xml" Id="R5b6fb32c8c304c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bbe7b64b94533" /><Relationship Type="http://schemas.openxmlformats.org/officeDocument/2006/relationships/image" Target="/ppt/media/image4.png" Id="R87f42421738340aa" /><Relationship Type="http://schemas.openxmlformats.org/officeDocument/2006/relationships/notesSlide" Target="/ppt/notesSlides/notesSlide8.xml" Id="R86fd78930fdd46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f78a8bda043db" /><Relationship Type="http://schemas.openxmlformats.org/officeDocument/2006/relationships/image" Target="/ppt/media/image5.png" Id="R05ced6407d1847c7" /><Relationship Type="http://schemas.openxmlformats.org/officeDocument/2006/relationships/notesSlide" Target="/ppt/notesSlides/notesSlide9.xml" Id="R2cdef3a7145f48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903ee03c14c33" /><Relationship Type="http://schemas.openxmlformats.org/officeDocument/2006/relationships/image" Target="/ppt/media/image6.png" Id="R566a39f057b94362" /><Relationship Type="http://schemas.openxmlformats.org/officeDocument/2006/relationships/notesSlide" Target="/ppt/notesSlides/notesSlide10.xml" Id="Rca626de1c58e44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39a151e5f4eb5" /><Relationship Type="http://schemas.openxmlformats.org/officeDocument/2006/relationships/image" Target="/ppt/media/image7.png" Id="R43127323fd474da0" /><Relationship Type="http://schemas.openxmlformats.org/officeDocument/2006/relationships/notesSlide" Target="/ppt/notesSlides/notesSlide11.xml" Id="Ra547000c86384e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c3dcbb03a41c2" /><Relationship Type="http://schemas.openxmlformats.org/officeDocument/2006/relationships/image" Target="/ppt/media/image8.png" Id="Rb691712ba3294834" /><Relationship Type="http://schemas.openxmlformats.org/officeDocument/2006/relationships/notesSlide" Target="/ppt/notesSlides/notesSlide12.xml" Id="Rf9ea7049d7c948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70629898c4831" /><Relationship Type="http://schemas.openxmlformats.org/officeDocument/2006/relationships/image" Target="/ppt/media/image9.png" Id="Re1f2a3b17a0c4fc2" /><Relationship Type="http://schemas.openxmlformats.org/officeDocument/2006/relationships/notesSlide" Target="/ppt/notesSlides/notesSlide13.xml" Id="Rd59ae3f30adf468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b4418c1140d2" /><Relationship Type="http://schemas.openxmlformats.org/officeDocument/2006/relationships/image" Target="/ppt/media/image10.png" Id="Ra3277044e08e4a07" /><Relationship Type="http://schemas.openxmlformats.org/officeDocument/2006/relationships/notesSlide" Target="/ppt/notesSlides/notesSlide14.xml" Id="Rb054a2d57f36448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22f4985fa4d0a" /><Relationship Type="http://schemas.openxmlformats.org/officeDocument/2006/relationships/image" Target="/ppt/media/image11.png" Id="R02c3f57ff627495e" /><Relationship Type="http://schemas.openxmlformats.org/officeDocument/2006/relationships/notesSlide" Target="/ppt/notesSlides/notesSlide15.xml" Id="R2174e79a20b54c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029d2b3184f3f" /><Relationship Type="http://schemas.openxmlformats.org/officeDocument/2006/relationships/image" Target="/ppt/media/image12.png" Id="Rd74b9b89965c4782" /><Relationship Type="http://schemas.openxmlformats.org/officeDocument/2006/relationships/notesSlide" Target="/ppt/notesSlides/notesSlide16.xml" Id="R3542f60514a74e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5b2ab086a41cf" /><Relationship Type="http://schemas.openxmlformats.org/officeDocument/2006/relationships/notesSlide" Target="/ppt/notesSlides/notesSlide17.xml" Id="R3a1b4731a3e54fc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0877b09134b45" /><Relationship Type="http://schemas.openxmlformats.org/officeDocument/2006/relationships/notesSlide" Target="/ppt/notesSlides/notesSlide18.xml" Id="R47c815e7ceca42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15970cc944355" /><Relationship Type="http://schemas.openxmlformats.org/officeDocument/2006/relationships/notesSlide" Target="/ppt/notesSlides/notesSlide19.xml" Id="Rc1ebf04b0cf042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367d42088424b" /><Relationship Type="http://schemas.openxmlformats.org/officeDocument/2006/relationships/notesSlide" Target="/ppt/notesSlides/notesSlide20.xml" Id="R5388250a74f849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6A6828-ED71-4C2E-9546-FDCB74E2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96A5E-0504-4E6C-94FE-7A990C74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0"/>
            <a:ext cx="3762375" cy="685800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rgbClr val="EE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8F014-E96D-46BD-B189-73AF4B82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TARGET · PROJECT PANORAMA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8A8B38-1225-4DB1-865A-A4AD2108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685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Target 项目全景</a:t>
            </a:r>
          </a:p>
          <a:p xmlns:a="http://schemas.openxmlformats.org/drawingml/2006/main">
            <a:pPr algn="l">
              <a:defRPr sz="40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数据可视化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3F2C5-6F82-48CA-BC66-50D95048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695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架构、疾病上下文、数据资产、Agent 运行、Reviewer、排序、训练对齐与完整评测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0D611-9E72-4CAE-B10A-C4A3DC51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838200"/>
            <a:ext cx="3000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3D5A9-69CD-41A1-99F8-E3A8E3D5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8382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0523D-E9B8-423D-B1F6-E3D4C03B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990600"/>
            <a:ext cx="2581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7C241-42B2-4984-955B-C864FD94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42875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疾病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3CFDA-1B1B-400D-8FF6-1C5973D4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71650"/>
            <a:ext cx="2581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13 个组织 · 14 类细胞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F52CD-B268-432F-B06D-BC9000F7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66950"/>
            <a:ext cx="3000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86137-9724-4CD4-8180-4DD1A23D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6695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3C09B-3156-42FC-9C22-6D990FB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19350"/>
            <a:ext cx="2581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2213B-B957-42D7-AC31-889DB147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5750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1D273-EE43-42F2-839C-5A795739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0400"/>
            <a:ext cx="2581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13 启用 · 3 个兼容插件关闭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92827-F7B0-4782-877C-345A8136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95700"/>
            <a:ext cx="300037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CB8F1F-83AD-417D-98C2-A2BCBC56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95700"/>
            <a:ext cx="762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262BB-1548-444B-901E-13DFC833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848100"/>
            <a:ext cx="2581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AA864C-89FA-4CE3-A812-16B32381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8625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归档运行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37C3A0-1301-4FD6-96AC-DD0A5240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29150"/>
            <a:ext cx="2581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全部 completed_with_gaps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98C367-73C0-45DD-A416-75D5956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3000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89E7B5-84AC-4F43-B0E0-08841787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2445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10BCD-2B30-4BE4-9931-C4AADA9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276850"/>
            <a:ext cx="2581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210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75FB5-30A8-4BC6-8285-DE3B53E2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715000"/>
            <a:ext cx="25812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训练/验收样本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DF9B8-2E56-4465-95F2-16BB6C01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6057900"/>
            <a:ext cx="2581275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282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均为高风险 Reviewer 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B1E090-5796-4B19-A16C-636E34CD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2026-08-08 · Local project audit</a:t>
            </a:r>
          </a:p>
        </p:txBody>
      </p:sp>
    </p:spTree>
    <p:extLst>
      <p:ext uri="{BB962C8B-B14F-4D97-AF65-F5344CB8AC3E}">
        <p14:creationId xmlns:p14="http://schemas.microsoft.com/office/powerpoint/2010/main" val="2470225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B12C7A-9F4F-4786-9794-EB15485B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E01EB-3AE1-4131-AD57-31B0FC5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Target 是受契约约束的疾病驱动靶点发现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11179-C0FB-4B2B-A383-D0A15376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3C545-D785-4825-A004-6346464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DE2BC-D88B-4C9E-8BC2-0B9895AC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924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D1C51-07F6-49DD-AFDE-304FDDB4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A0753-0AB5-4DAF-A7A6-D8CD6E77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C9C20-DEE1-460F-A960-45F2F2A5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疾病、组织、细胞、时期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82206-F3FB-4F10-90D1-05104B75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24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F89E6-487F-4A1F-A902-DF7E5EAD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09750"/>
            <a:ext cx="1924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46C54-034F-45D9-871B-70A604A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C997AA-A957-483C-AFE4-A3401A46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3E5D9-397F-4895-9153-F8BBE4C6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241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TaskSpec 与分析计划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30BC3-E171-44DF-9237-659DB9C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24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2D2F3-8DF3-4A11-8DC6-14E5F001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1924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5B9034-41FD-42FB-A96E-F366124A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81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8013D-5DA6-4F11-81D9-66F811A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56D30-39B3-4D6A-9DED-6CCD6FA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组学、遗传、文献、试验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995C0-8EB0-441D-A25E-75116851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24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69268-B537-47B7-8171-36396C6E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19240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65C41-1ED1-4450-96D6-90D1CB0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81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F7A49E-E4B4-43A4-8E04-2C4145C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审查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CBC08-593C-4EC9-8908-74112368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Reviewer 与科学边界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61753-B7A0-4FA4-ACC4-C1BAAF4F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24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07B5CE-4934-4512-B041-1EACA464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924050" cy="142875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33288A-BC9A-4316-8537-FE24AA51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812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067801-E05F-4ECB-929D-1E2F9DE1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33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6D152-04EB-467C-A90C-CAECA753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571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六维排序、TargetCards、报告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FBA26-42FD-419C-AB0C-B27AAF9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112776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3C308B-7600-4D27-BACA-85339C04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E8C923-0096-46BF-AD4D-F20B27DC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9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产品价值不只是给出一张靶点榜单，而是保留上下文、证据 provenance、Reviewer finding 和可追溯报告。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0C5B9D-2849-4E78-AD71-87C13A0D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当前工程边界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D82CCF-C2C4-4AB5-A9C2-BC2E059D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5780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30 次工具调用 · 20 个初始候选 · 2 轮 Review · 上下文匹配分 &lt; 0.5 不进入正式排名</a:t>
            </a:r>
          </a:p>
        </p:txBody>
      </p:sp>
    </p:spTree>
    <p:extLst>
      <p:ext uri="{BB962C8B-B14F-4D97-AF65-F5344CB8AC3E}">
        <p14:creationId xmlns:p14="http://schemas.microsoft.com/office/powerpoint/2010/main" val="20073194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BD923B-7657-474B-88E5-4062E07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1E9EF-66B7-4DC5-8E74-2A0C937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九状态工作流把输入、工具、证据和报告串成可追溯闭环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D331-B86F-407C-B1CD-169B0D85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C3AAE-6522-4C0D-A006-D6719C7C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AF3E1-00B7-4B95-8EB7-B9518A46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AAC7E-A8C0-431D-BF44-72AF44C5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BEA14-3B7C-404F-86E4-613A7123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1E919-DF37-414D-BB69-FA747A7E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08E9F-7FE5-489E-8358-85B22956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19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CA8587-7374-4724-956A-5DB98F81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B04B3-DD5E-4203-B2C5-D1DE2118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47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Planner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F8ABD-F1C7-4CA7-8EA8-AA8AA3C4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E53AF-3D44-4965-8F2B-6740D3AB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19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5D016D-E119-434E-82EF-29D2272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5C5A0-D104-49C4-8AE6-4C8A1B48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47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AB573-97B8-40E3-8A6D-D9F53B7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1D202-D852-4B55-9AAE-B4981067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B99718-3908-4B46-A56D-C340525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5705F-53AC-4D99-9D02-ADB0A43C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47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ToolExecution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DA829-1125-4D39-BFF8-F9C53A1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11E96-F989-40E4-BF38-17D74A3A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192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87FBD-47E9-4B84-8057-06297A53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62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939EE-5E41-4E0B-B6C6-0EAA2153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478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EvidenceStore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A9675-B554-4E6C-88A5-B5D8F6C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2600325" cy="952500"/>
          </a:xfrm>
          <a:prstGeom xmlns:a="http://schemas.openxmlformats.org/drawingml/2006/main" prst="roundRect">
            <a:avLst>
              <a:gd name="adj" fmla="val 12000"/>
            </a:avLst>
          </a:prstGeom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A0373-C692-4BBA-B0E1-6CC24703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A861D5-CC65-405D-8F7D-D39224B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7926A-4525-4F46-B884-3A2527FC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05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1C8B9-848C-409D-BCE3-12FD4AF6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26003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80A4C-5CC8-4CA7-BDF3-0B48929E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67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5CC001-B341-4F4B-BA53-F491F0D4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52875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Ranking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F34F4F-A2F3-4E0F-BE06-DADD431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AE6B1A-21B3-410E-88F7-A139DE73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26003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E56648-8F6E-43E9-AFE0-153DF9D8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67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FB115-BCA2-4AD6-B68B-70A21F0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52875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TargetCard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7828D9-5940-4AC4-9EDE-9FDFB7A8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9052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AD6EF2-0012-41A9-936A-F7A997A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524250"/>
            <a:ext cx="26003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1F88A5-B890-4CD3-8BD3-E0687012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671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A9A1E8-3FEC-49D7-A2EA-E66DBF7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952875"/>
            <a:ext cx="2295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Report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A133E6-2117-4BB3-AB98-F933D41D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8FD83F-6653-4A95-8BC5-E2DFEADD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0EA453-C7FA-47FF-98FE-002A36A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9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终态：completed / completed_with_gaps / needs_input / refused / failed。归档矩阵只出现 completed_with_gaps。</a:t>
            </a:r>
          </a:p>
        </p:txBody>
      </p:sp>
    </p:spTree>
    <p:extLst>
      <p:ext uri="{BB962C8B-B14F-4D97-AF65-F5344CB8AC3E}">
        <p14:creationId xmlns:p14="http://schemas.microsoft.com/office/powerpoint/2010/main" val="1180893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23D87-9E3C-466E-8E8F-C2E987E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7D650-B8BF-41F2-AA31-192B4886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项目资产不止 benchmark：数据、契约、训练和运行产物共同构成主体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29B51-906E-4D2C-BDA0-B8F57974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B1ED1-E447-469C-9749-77605362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a64194b4f64e3b"/>
          <a:stretch xmlns:a="http://schemas.openxmlformats.org/drawingml/2006/main"/>
        </p:blipFill>
        <p:spPr>
          <a:xfrm xmlns:a="http://schemas.openxmlformats.org/drawingml/2006/main">
            <a:off x="457200" y="1679606"/>
            <a:ext cx="7810500" cy="40226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C56E9-49CE-4740-81A8-BC30417E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3162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29112-C997-4D1F-9161-79287546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A13BA-2709-4318-9E53-6C881264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764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E20B1-300D-4F5C-9321-FC5635B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145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393CC-FEC6-4AB1-8FDE-5E6DC689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任务、工具、证据、审查、排序、报告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F1F3C-955D-4047-B147-CC2021A7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3162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78F18-786E-457D-80D3-54BD153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5275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0A123-068A-4FEA-B8C1-FC959FA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051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73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C2849-A666-4ACF-9CD8-5A61FC44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54330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参考靶点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442F0-5E1A-4D74-961F-6E2B0253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用于 sanity check，不代表新发现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F5412-88B3-42BE-A92E-DF9E5F09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3162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30C047-206F-4064-A288-D9F5497C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F9209-A4F4-49C4-BDB9-D18CB678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3390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67285E-317C-4949-90C8-182F638D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720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归档回放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538C94-841D-43F3-A28E-21438971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1495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每次都有状态、排序、findings 和报告</a:t>
            </a:r>
          </a:p>
        </p:txBody>
      </p:sp>
    </p:spTree>
    <p:extLst>
      <p:ext uri="{BB962C8B-B14F-4D97-AF65-F5344CB8AC3E}">
        <p14:creationId xmlns:p14="http://schemas.microsoft.com/office/powerpoint/2010/main" val="1592800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9D9EE-DCC7-4132-B9DA-096AB131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DISEASE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32291-C419-4E63-A995-4CE0B94F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疾病库已覆盖五类疾病，但组织和细胞上下文仍呈长尾分布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CD0E-086D-4725-A377-FFDB90BF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961EB-F8F8-4296-881C-3B9CAF4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66c6b65af41be"/>
          <a:stretch xmlns:a="http://schemas.openxmlformats.org/drawingml/2006/main"/>
        </p:blipFill>
        <p:spPr>
          <a:xfrm xmlns:a="http://schemas.openxmlformats.org/drawingml/2006/main">
            <a:off x="333375" y="1550423"/>
            <a:ext cx="11525250" cy="423340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0CC0D-ACB5-4B4B-9D83-7D406D4F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10763250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657C8-5A9C-4DE7-8098-AEB40CA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66675" cy="428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23AF9-7217-4637-BACF-6AC733D6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05525"/>
            <a:ext cx="10382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18 个疾病 · 13 个组织 · 14 类细胞；自身免疫疾病最多，肺、上皮细胞覆盖相对集中。</a:t>
            </a:r>
          </a:p>
        </p:txBody>
      </p:sp>
    </p:spTree>
    <p:extLst>
      <p:ext uri="{BB962C8B-B14F-4D97-AF65-F5344CB8AC3E}">
        <p14:creationId xmlns:p14="http://schemas.microsoft.com/office/powerpoint/2010/main" val="2046800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8346A6-132C-42CD-9677-FE6C589B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REFERENCE TARGETS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72199-7583-48FE-9BC5-EC731501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参考靶点以已批准药物和遗传证据为主，适合回归但带有锚点偏向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C74DF-6B44-4C63-9100-5D325C5D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A4F16-CA96-41DD-B980-B56077A7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700b58b404132"/>
          <a:stretch xmlns:a="http://schemas.openxmlformats.org/drawingml/2006/main"/>
        </p:blipFill>
        <p:spPr>
          <a:xfrm xmlns:a="http://schemas.openxmlformats.org/drawingml/2006/main">
            <a:off x="457200" y="1521910"/>
            <a:ext cx="8382000" cy="424280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24F13-D12D-4BD7-8773-293B78AB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25908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5D211-BE42-455C-B542-5FFAA973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19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9ABCD-8C40-4CB2-AA9A-E2A902CF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7165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42 / 73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DEF0-0EB1-4D24-9ABD-091961C2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098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approved_drug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B8732-2C01-4206-8645-3828AC00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52700"/>
            <a:ext cx="2171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最大证据来源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D4658-7758-4BF3-8220-E5769AB8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25908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A043B-620D-40A2-9C05-4C427A7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0037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5F8D0-FF74-4F1A-9962-DF4E29B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52775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14 + 10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A31B1-52D1-40B7-B20C-05F0134E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90925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GWAS + Mendelian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16410-F17D-4CB4-8D16-5344E058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33825"/>
            <a:ext cx="2171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遗传证据合计 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9DF8B-9A91-4AE6-8C53-6257A621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25908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9EDF8-C0F9-437B-8DEF-8C328F8D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8150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65926-C885-4F34-AD44-B9EF8AD3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339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TNF ×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93882-4DEE-406F-BBD3-3DCAD6E3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720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重复最多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0440E-FA7F-4D8E-8642-1B2F675A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14950"/>
            <a:ext cx="2171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频次不是跨疾病验证</a:t>
            </a:r>
          </a:p>
        </p:txBody>
      </p:sp>
    </p:spTree>
    <p:extLst>
      <p:ext uri="{BB962C8B-B14F-4D97-AF65-F5344CB8AC3E}">
        <p14:creationId xmlns:p14="http://schemas.microsoft.com/office/powerpoint/2010/main" val="10350200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40C4BC-F4F7-4A27-B0AA-E27924C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TOOLS &amp;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8A250-207F-4F4F-8A3E-2157B0EB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16 个工具中 13 个启用；真实证据链依赖严格 registry 与输入审计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71C76-C992-4EBB-8C88-E29058E5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6F821-19B7-4E9B-B5E3-F347314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64ECF-AE8F-4C90-BC3D-31571915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3C4ED-6A38-4DBC-A29F-76A3CA6A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AD549-31C5-481A-8B9B-105C47B7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发现与审计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043ED-0D5A-4C2E-9202-1B5C2033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219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disease_resolver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geo_search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geo_metadata_audit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8DDDB-C90E-4764-8FF5-9BDDD96A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A8A0F-ED8D-4360-B1AF-9B59BC8B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B8C89-839A-47ED-9099-A28FC1A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52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组学分析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4C687-0255-4D42-A9FA-834299C0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28875"/>
            <a:ext cx="219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omics_recipe_builder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bulk_expression_analysis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single_cell_analysis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02E89-F78F-440B-9966-BBC26146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A0680-45A7-4AD9-9241-E51E50D5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B348E1-FE07-4034-A942-453BC636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候选与通路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0FA6D-6357-4DCF-A7E1-173AA03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28875"/>
            <a:ext cx="219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pathway_enrichment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omics_candidate_extraction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cellxgene_discovery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43A96-70E4-4763-8B6A-5154D791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7E3638-EF39-4086-BBE9-D358DA6E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5FB0FD-F1D3-436C-8878-02C749A6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52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外部证据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9CB15-FF91-4286-BB96-75D93A57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28875"/>
            <a:ext cx="219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open_targets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europe_pmc_rag</a:t>
            </a:r>
          </a:p>
          <a:p xmlns:a="http://schemas.openxmlformats.org/drawingml/2006/main">
            <a:pPr algn="l">
              <a:def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clinical_trials_gov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560313-0837-46E2-9C0F-BCC35BE6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547EB-36C8-4954-A191-0A0E92A7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94A29-1249-477A-BE93-5934D776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96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关闭的 3 个兼容插件：uc_omics_snapshot、observed_tcell_perturbation、deltafactor。关闭不等于能力已被真实工具替代。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F88B9-2A5B-4EAF-BB11-C49E7541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必需工具 11 · 工作流上限 30 次调用 · registry 外工具禁止运行</a:t>
            </a:r>
          </a:p>
        </p:txBody>
      </p:sp>
    </p:spTree>
    <p:extLst>
      <p:ext uri="{BB962C8B-B14F-4D97-AF65-F5344CB8AC3E}">
        <p14:creationId xmlns:p14="http://schemas.microsoft.com/office/powerpoint/2010/main" val="18204171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0EA2F2-FB7D-4EF0-BE82-0ACD3949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CODE &amp;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58C04-EA3F-4B22-A018-E253A122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代码主体集中在 src；ToolResult 和 DatasetCandidate 是最复杂的契约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EB764-C3E6-47AC-92E3-288BFDDD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5C5EA-1C46-44DC-8D11-A4E180B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42421738340aa"/>
          <a:stretch xmlns:a="http://schemas.openxmlformats.org/drawingml/2006/main"/>
        </p:blipFill>
        <p:spPr>
          <a:xfrm xmlns:a="http://schemas.openxmlformats.org/drawingml/2006/main">
            <a:off x="381000" y="1713694"/>
            <a:ext cx="8858250" cy="3859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86F86-5392-44AF-B7AB-4606A17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71625"/>
            <a:ext cx="22574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2AAA8-89FB-44F1-A178-887D48CA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5716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6F723-2F14-4259-B1DE-1EECE116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724025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8,320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E17B3-8C22-4552-8BD8-F07ED250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62175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Python 非空行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517DE-A8B9-470B-98D0-0CDEB60D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505075"/>
            <a:ext cx="1838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最大文件 omics.py：1,695 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73FA9-B7A8-4CE2-8741-CEF990F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22574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3AD06-DE25-412E-B4C2-64340410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051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8AC7E-97EC-4670-AF2E-F4646B6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057525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A5925-42D2-41D7-9155-F6C8AC81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495675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测试函数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9C7E0-DBCD-4E7A-B119-36180D54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838575"/>
            <a:ext cx="1838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执行用例因参数化为 85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690E8E-2423-4565-8776-01EEC6B6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22574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7B9E7-9AF4-409C-A237-DD24904E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941A3-BE1C-490E-AEC7-A94A95C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391025"/>
            <a:ext cx="1838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CA425-8AD4-4523-ABB5-0C90EA7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829175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ToolResult 属性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9AFF3-214E-48F3-B5E6-10AA2DD4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5172075"/>
            <a:ext cx="18383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契约复杂度最高</a:t>
            </a:r>
          </a:p>
        </p:txBody>
      </p:sp>
    </p:spTree>
    <p:extLst>
      <p:ext uri="{BB962C8B-B14F-4D97-AF65-F5344CB8AC3E}">
        <p14:creationId xmlns:p14="http://schemas.microsoft.com/office/powerpoint/2010/main" val="926824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CA99F-7139-451F-BAB0-7DA642E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DERIVED BIOLOGY · UC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EC65A-3088-487D-A50F-E5B47B2D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UC 候选组学同时显示效应方向、显著性与细胞类型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05C10-C643-43A7-A68D-44A2C11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8A829-110F-4881-A14A-D6EF5548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ed6407d1847c7"/>
          <a:stretch xmlns:a="http://schemas.openxmlformats.org/drawingml/2006/main"/>
        </p:blipFill>
        <p:spPr>
          <a:xfrm xmlns:a="http://schemas.openxmlformats.org/drawingml/2006/main">
            <a:off x="933016" y="1381125"/>
            <a:ext cx="7239868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D190D-7197-43B0-B51B-AE038153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781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62DEB-612C-495C-90EF-71041666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C7524-4FAD-48F2-8F83-E632875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4800A0-3173-4E3C-A7AD-D4DB672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62175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候选基因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68527-2C28-4705-9D39-B7E63BC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362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GSE125527 donor pseudobulk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E2D1E-84B4-41A8-9891-1D4651CF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27813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3E793-050A-4461-895F-E6373D9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527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A364E-6DB2-4CB2-9532-0B9E32DD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0487CD-F6B9-40D1-868A-863C119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与扰动屏重叠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EA3B0F-7029-46C5-9624-9F7AAEA3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2362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IL2 / TAGAP / CD27 / FOSB / GATA3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54C80-0DF9-4260-BB9C-5BA397E9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7813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EE33C-266B-4B86-B5CD-C0186C0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1EACB-FC49-4147-8F0E-1C49DF58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2915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差异表达是观察性证据，不能直接解释为因果靶点。</a:t>
            </a:r>
          </a:p>
        </p:txBody>
      </p:sp>
    </p:spTree>
    <p:extLst>
      <p:ext uri="{BB962C8B-B14F-4D97-AF65-F5344CB8AC3E}">
        <p14:creationId xmlns:p14="http://schemas.microsoft.com/office/powerpoint/2010/main" val="2040490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26CC3-6E07-40ED-A71C-C9FBF1FE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DERIVED BIOLOGY · PERTURBATION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FEB87-B3D3-4A94-BFB6-B68787D7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CRISPRa 扰动屏提供方向性信号，但疾病一致性仍是相关指标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E6CBF-EECF-4FBC-93C5-40A4F5CC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562B5-2331-4A71-B822-3EA2087B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a39f057b94362"/>
          <a:stretch xmlns:a="http://schemas.openxmlformats.org/drawingml/2006/main"/>
        </p:blipFill>
        <p:spPr>
          <a:xfrm xmlns:a="http://schemas.openxmlformats.org/drawingml/2006/main">
            <a:off x="846472" y="1381125"/>
            <a:ext cx="7508206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AA89D-3F42-42A3-A3CF-1D5FC363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686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39217-8269-43A5-96ED-D50EF687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D7D0D-17C0-4966-B0FE-65B748FB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24025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61E4D-F8C0-4028-BE79-DC47ACA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62175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扰动靶点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4A18B-8386-4FC3-B117-D15573B9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05075"/>
            <a:ext cx="2266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primary human T-cell CRISPRa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2EEEC-ECAC-4480-A0A4-67CB21D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2686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59DB1-253A-419B-A7F6-27BF3C9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E94FD-BF9F-4A94-A931-B549EB8B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051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CD27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5305E-4386-4D72-B709-A415FF43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433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最高正一致性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E67FD-FBCB-45A1-B71F-92C6878F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86200"/>
            <a:ext cx="2266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alignment ≈ 0.092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2C857-EB99-4939-B046-735B1647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26860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669ED2-5A2B-4D60-9BDD-9831285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66675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C73DAC-1FB4-4F9C-9E0E-BFCDB2D6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629150"/>
            <a:ext cx="230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CRISPRa 测量激活而非抑制；供体在迁移摘要中被合并。</a:t>
            </a:r>
          </a:p>
        </p:txBody>
      </p:sp>
    </p:spTree>
    <p:extLst>
      <p:ext uri="{BB962C8B-B14F-4D97-AF65-F5344CB8AC3E}">
        <p14:creationId xmlns:p14="http://schemas.microsoft.com/office/powerpoint/2010/main" val="1480382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657C84-14F0-4EFE-9E1C-0FA0FA78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CAUSAL GOLD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4C8EE-433A-4C58-90A3-9470953E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MCH/K562 是当前唯一明确的 causal gold 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E8157-4A70-406F-B5CC-401C9A8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70ACF-B8E5-49AB-B6BA-39A1C8E9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27323fd474da0"/>
          <a:stretch xmlns:a="http://schemas.openxmlformats.org/drawingml/2006/main"/>
        </p:blipFill>
        <p:spPr>
          <a:xfrm xmlns:a="http://schemas.openxmlformats.org/drawingml/2006/main">
            <a:off x="575523" y="1476375"/>
            <a:ext cx="6621354" cy="4333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019FB-B9C1-48D0-BB62-E3CE1EA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40195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46653-0C52-47CC-B9A2-7D200A66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7162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35D9F-3ADF-40AA-AE00-2A2B5EBD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240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43 / 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EAE17-2E15-42FA-AB8C-C937FE7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6217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Nature 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CF80A-72DD-40A7-A580-AC14E40C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0507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方向预测准确率 72.9%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E547D-9C01-4352-8BCB-2B1B2395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40195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58990-120A-4453-970B-5D568DF0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76200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7CA80-422D-492E-8708-8608A6FD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5277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94 / 147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8EDB6-D235-46B0-A571-6F862655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90925"/>
            <a:ext cx="3600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项目扩展复现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E4372F-F305-4A5C-9C04-D519D3A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33825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方向预测准确率 63.9%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326FA-EBE3-4C44-81B5-1AB3227C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40195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2E762-D0CD-41ED-A872-FC3D5DE0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66675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3C593-CD35-456C-A803-47AD687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24400"/>
            <a:ext cx="36385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置换 p = 0.00019998；两者 hit set 不同，94/147 不能写成论文准确率复现。K562 也不是 UC 组织模型。</a:t>
            </a:r>
          </a:p>
        </p:txBody>
      </p:sp>
    </p:spTree>
    <p:extLst>
      <p:ext uri="{BB962C8B-B14F-4D97-AF65-F5344CB8AC3E}">
        <p14:creationId xmlns:p14="http://schemas.microsoft.com/office/powerpoint/2010/main" val="469310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834FF-8BAD-4BB0-A583-78A978DC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ARCHIVED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52EF5-D4E1-48EA-A354-BE634069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72 个归档运行的产物合同完整，但终态全部带缺口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DD62F-E578-4179-82D8-C6DBF369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F620B-6328-4DCB-9BBD-B3065F97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1712ba3294834"/>
          <a:stretch xmlns:a="http://schemas.openxmlformats.org/drawingml/2006/main"/>
        </p:blipFill>
        <p:spPr>
          <a:xfrm xmlns:a="http://schemas.openxmlformats.org/drawingml/2006/main">
            <a:off x="457200" y="1570493"/>
            <a:ext cx="7715250" cy="40027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35E92-C7AA-4A19-9947-E13F4163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32575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320B7-3122-43E5-8193-168E1F43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2400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9BE0D-D5EB-4DC9-8361-F98B630D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764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72 / 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F4ECF-77F1-4490-9589-0D1ABD1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1455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产物完整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228FF-CD83-4C0E-A067-F902CC7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838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status · ranking · findings ·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23332-3A80-4BBA-89A0-7815C770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32575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634A5-A0D7-45D6-B5F7-2BF4D818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05125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551A0-8F91-4B52-B6C4-357C056D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57525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365E2-0765-4581-974A-52991285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956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每运行工具调用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5DC97D-E2A7-4486-AAF3-70780170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38575"/>
            <a:ext cx="2838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每次 10 个排名、5 张卡片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50B711-45DC-4D97-B00F-E76277E5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32575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146EF-2F8F-45F2-944E-1DA67282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86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481FB-7D29-48B0-B51E-BBC4F9CA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3865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72 / 72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1F170-2D78-4C7E-8B24-3CE8A3B1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768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completed_with_gaps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05198-3256-4A13-B654-11CBD39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19700"/>
            <a:ext cx="2838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流程跑完不等于证据闭环</a:t>
            </a:r>
          </a:p>
        </p:txBody>
      </p:sp>
    </p:spTree>
    <p:extLst>
      <p:ext uri="{BB962C8B-B14F-4D97-AF65-F5344CB8AC3E}">
        <p14:creationId xmlns:p14="http://schemas.microsoft.com/office/powerpoint/2010/main" val="19209879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C5EB9-F3FD-4744-8D14-6181681D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REVIEWER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36533-09A1-405B-B9F3-AC4F4F74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Reviewer 的主要问题不是因果越界，而是数据资格、上下文和覆盖缺口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B65E99-402B-458B-8106-12914413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57A75-88FE-425D-93C4-61CCDFFC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2a3b17a0c4fc2"/>
          <a:stretch xmlns:a="http://schemas.openxmlformats.org/drawingml/2006/main"/>
        </p:blipFill>
        <p:spPr>
          <a:xfrm xmlns:a="http://schemas.openxmlformats.org/drawingml/2006/main">
            <a:off x="451256" y="1381125"/>
            <a:ext cx="8431987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81676-7C43-4EDE-9698-D0517046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24000"/>
            <a:ext cx="25431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90E4D-E918-4BFD-924B-63AB731F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2400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0228B7-4C8C-4B9A-A8A3-287CC45F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676400"/>
            <a:ext cx="2124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1,403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3B81A0-9CFC-4D44-9B20-96488CD1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114550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finding 总量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3EFB7-2CBF-4530-9B85-EBD36784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457450"/>
            <a:ext cx="2124075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487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全部 resolved=false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8A61E-7FAA-4D73-A280-C647FC56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9875"/>
            <a:ext cx="25431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D1ADB-BC16-425B-B7B9-791381E3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987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4ABE6-B824-49F0-B2A1-499AFEC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62275"/>
            <a:ext cx="2124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C84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C84C4C"/>
                </a:solidFill>
                <a:latin typeface="Microsoft YaHei"/>
                <a:ea typeface="Microsoft YaHei"/>
                <a:cs typeface="Microsoft YaHei"/>
              </a:rPr>
              <a:t>797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46794-6010-4BA8-A81F-ABB063D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00425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major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44CCF-9FDA-4FCA-AD60-1913013B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743325"/>
            <a:ext cx="2124075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487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占 56.8%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BA856-D4FA-43C4-AE97-066D141F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95750"/>
            <a:ext cx="25431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563C6-6ECB-40A2-B120-5B1ACDF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9575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CC6A5-BFD4-4E2F-A70F-72241B4F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48150"/>
            <a:ext cx="21240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502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9E2CE-8B96-4E4A-807C-53B31010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86300"/>
            <a:ext cx="2124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dataset ineligibility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76293-F8E9-4833-8646-E62B6FCE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029200"/>
            <a:ext cx="2124075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487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最大类别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5538A2-01BC-4018-B3E7-CEED4A86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2543175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F9F100-C170-4FF3-B4B3-8D8EAB0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381625"/>
            <a:ext cx="66675" cy="714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76CA80-B0D7-47EA-86AF-1F1EBD37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534025"/>
            <a:ext cx="2162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平均每运行 19.5 条；归档无闭环状态迁移</a:t>
            </a:r>
          </a:p>
        </p:txBody>
      </p:sp>
    </p:spTree>
    <p:extLst>
      <p:ext uri="{BB962C8B-B14F-4D97-AF65-F5344CB8AC3E}">
        <p14:creationId xmlns:p14="http://schemas.microsoft.com/office/powerpoint/2010/main" val="15729275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9ACA0-9A4C-47D2-8E0F-43821FC6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A004F-385F-4A50-A3D7-20537968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六维排序在归档矩阵中明显失衡：三维平均分为零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49FE7-8DB1-47A2-8730-35A51D1D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204AA-56F4-4AEC-B44D-0EB5C5BD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77044e08e4a07"/>
          <a:stretch xmlns:a="http://schemas.openxmlformats.org/drawingml/2006/main"/>
        </p:blipFill>
        <p:spPr>
          <a:xfrm xmlns:a="http://schemas.openxmlformats.org/drawingml/2006/main">
            <a:off x="453501" y="1381125"/>
            <a:ext cx="8522747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A67E2-2892-4C26-A94C-3430CA3C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24003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F583-C51A-4548-BE05-2DF8778E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2400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9A76E-AB41-4BEB-9CBA-95E6338D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7640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18.37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33EE7-23B0-4868-BC5C-51C8EB6F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human genetics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505BA-9174-4162-B1A4-ECFD6CFB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57450"/>
            <a:ext cx="1981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487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主导当前 fake/unit 排名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B4407-7302-42CA-BCFC-2A3928D6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24003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D6E87-24B7-4378-9B7B-F079BC53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540FA-03A9-42B1-B713-23F93313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62275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0 / 0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553EA-B4E3-4413-8ABA-C157124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00425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三维缺失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6E1D4-57F0-4687-8C5F-7E3163E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43325"/>
            <a:ext cx="1981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487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omics · perturbation · safety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30C27-EAF1-4336-9359-DF57C2A4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24003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41B9E-82CB-42B0-B8E5-0AEC8EF8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95750"/>
            <a:ext cx="76200" cy="1095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07494-CA44-49E3-ABFA-831211AE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48150"/>
            <a:ext cx="1981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350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4FCC9-CD49-41BE-8F0C-EF4AED8A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8630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B860C-02E4-42AE-BDA2-5F06AE7E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29200"/>
            <a:ext cx="1981200" cy="66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4872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另有 234 insufficient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CA136-FFAD-408B-93F3-3E7B44D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81625"/>
            <a:ext cx="2400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C7881E-5E06-439F-86E3-A408797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381625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157CA-2AC2-4498-863C-917F8AB2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534025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有 GO 决策不等于六维证据已完整。</a:t>
            </a:r>
          </a:p>
        </p:txBody>
      </p:sp>
    </p:spTree>
    <p:extLst>
      <p:ext uri="{BB962C8B-B14F-4D97-AF65-F5344CB8AC3E}">
        <p14:creationId xmlns:p14="http://schemas.microsoft.com/office/powerpoint/2010/main" val="10210283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85132-65C9-4ED6-8520-C6E30114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ARCHIVED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88FA6-5657-4293-BED5-F7896E23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高频进入 Top-10 的基因反映固定回放资产，而非生物学验证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281AD-621C-4479-96B1-A07826F7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CFF07-0606-4DB1-BE85-B04C4F06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3f57ff627495e"/>
          <a:stretch xmlns:a="http://schemas.openxmlformats.org/drawingml/2006/main"/>
        </p:blipFill>
        <p:spPr>
          <a:xfrm xmlns:a="http://schemas.openxmlformats.org/drawingml/2006/main">
            <a:off x="1063432" y="1381125"/>
            <a:ext cx="7207636" cy="4619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C75B1-B1F6-45C4-9135-23242828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686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BA2E5-505D-44FD-B4FF-62295B8B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B0E4B-C252-434D-B3C6-349C76CF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716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16 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4F4578-01D5-4B2E-AF97-64267244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9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IL12B / IL23R / TYK2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1A914-D374-45CF-A9CB-C0C2C29F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52700"/>
            <a:ext cx="2266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归档出现频次最高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23AAD-16F6-4C8F-98D4-4B7E852A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6860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54B7C-F219-4111-946E-AF30DFDB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76200" cy="1190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60290-6377-4FC7-B75C-ED17F90D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12 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EABAEE-3143-4804-B645-9A8BAFC5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3855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IL10 / CTLA4 / SH2B3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FFEB9-A5A4-4F27-8504-0DA120AD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81450"/>
            <a:ext cx="2266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第二梯队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8C81C-9197-406D-8E14-F81E8DF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6860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127B5-B490-4BA0-805E-382BDEE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66675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FFE3D-7D39-45EC-86A0-2ADA68B9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72025"/>
            <a:ext cx="23050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不要把归档频次解释成跨疾病生物学有效性。</a:t>
            </a:r>
          </a:p>
        </p:txBody>
      </p:sp>
    </p:spTree>
    <p:extLst>
      <p:ext uri="{BB962C8B-B14F-4D97-AF65-F5344CB8AC3E}">
        <p14:creationId xmlns:p14="http://schemas.microsoft.com/office/powerpoint/2010/main" val="10712150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3C1CF-78E6-460E-9BC7-E9D9C87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ALIGNMENT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895C3F-8EED-4B50-99FA-9980512C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Reviewer 对齐数据覆盖六类高风险场景，并保持严格均衡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BE40B-1FE9-446E-8FEA-6F0F3452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C8321-9F82-4BEC-849D-FED91E90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b9b89965c4782"/>
          <a:stretch xmlns:a="http://schemas.openxmlformats.org/drawingml/2006/main"/>
        </p:blipFill>
        <p:spPr>
          <a:xfrm xmlns:a="http://schemas.openxmlformats.org/drawingml/2006/main">
            <a:off x="487587" y="1381125"/>
            <a:ext cx="8035476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8EE83-C006-4346-8020-49D2D67F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876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55534-A02E-472D-B68F-91CD2F5B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69DF2-FEBB-4929-BBE6-77A8B86A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764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93A73-BDF6-4156-9B8E-B43D26E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SFT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3AD07-1AB1-49BF-B913-88B8135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2457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每类 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9C28A-34B9-425B-AD99-DD06E0F0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876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52285-E363-49CC-8C9B-1C7139CE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C953D-EEDC-495A-8146-281C299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049F5-2BB2-49BF-BF3B-3C56055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Preference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515A6-C71E-4286-8B97-CCC0639E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90950"/>
            <a:ext cx="2457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每类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D8DDC-742A-4121-A1F4-C235987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28765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06D9D-9A90-419E-8337-603276C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AA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FC4EF-1B83-4EA3-A768-CAA7651B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434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AA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AA25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26800-195C-4E1E-ADA4-8B466B36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7815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Heldout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6902A-5718-4483-9E24-D867C1AB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24450"/>
            <a:ext cx="24574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每类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2063F-69DE-4C50-806D-DFEE2601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876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26B5E-B47F-473F-AE63-8151A7A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66675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E4D9F-5F6A-4723-8316-82459B0C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72452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全部为 high-risk；manifest 明确禁止自动训练。</a:t>
            </a:r>
          </a:p>
        </p:txBody>
      </p:sp>
    </p:spTree>
    <p:extLst>
      <p:ext uri="{BB962C8B-B14F-4D97-AF65-F5344CB8AC3E}">
        <p14:creationId xmlns:p14="http://schemas.microsoft.com/office/powerpoint/2010/main" val="13940109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597B9A-D169-4F20-945A-3D1C7BE5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75B03-5BF7-4C49-9844-FAE5042C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完整本地回归全绿，但它验证的是 fake/unit 链路与契约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1BFF0-DE9F-42AE-A112-EF5725D3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6FE21-541C-4727-B37A-A60D763B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6D7D7-E0BF-4EE4-963A-83F0380D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257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1EB9B-8952-41EA-988D-91EB0DBD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508CE-3985-4BC8-B3C7-AD56A31C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7A223-8F2C-4772-B6A8-6A3776AF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pytest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6962F-C00C-420C-920B-2098C9D6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另有 4 skip · 0 fail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C5232-1CAD-4C9E-BB9D-5941B387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257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90FEB-A491-41CF-8338-27FD78E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71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1E0C8-9E2F-407E-A53C-5B554327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240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11 / 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D276C-9408-4FB5-99D2-58E475B7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621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主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0A7780-1BE3-4EF3-B2E1-D236EBA2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050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27 / 27 断言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CEA3A-D35C-4788-99CC-9B9F3418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2571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9F76A3-2952-4052-BC14-6D75D6D9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7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841A5-7BD2-421F-B79B-73297E3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24025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7C2E8"/>
                </a:solidFill>
                <a:latin typeface="Microsoft YaHei"/>
                <a:ea typeface="Microsoft YaHei"/>
                <a:cs typeface="Microsoft YaHei"/>
              </a:rPr>
              <a:t>72 / 72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C7ED09-C538-449C-83FE-63377BB7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621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疾病矩阵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C152A-9241-450A-BA76-D1D4CB7E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05075"/>
            <a:ext cx="2152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234 / 234 断言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F4115-C023-4D80-B52D-E2179EC9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71625"/>
            <a:ext cx="2819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D3BDA-21CD-4B8D-982B-6315C249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71625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17942A-C010-4D80-B65F-56B23977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24025"/>
            <a:ext cx="240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145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F755D8-F087-45AE-ADCB-45C64189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62175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关系样本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69D25-A12C-446B-BA93-AE6CF257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050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跨疾病 split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F4054-374D-4B23-9741-D20A3389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2776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3B576-4E06-4D0D-B63F-6AAD2A3A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45264-6D14-4413-9237-09E302B9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本机 Python 3.12.13；正式 acceptance runtime 为 Python 3.11。live API 与 Reviewer LoRA GPU profile 未在本地执行。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B8294-6381-499B-8694-20F7F699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绿色 benchmark ≠ 项目级证据已闭环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F7BC7-2CBE-4DFC-AE22-25CC2617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归档运行的 completed_with_gaps、零分维度和未解决 findings 是同等重要的质量信号。</a:t>
            </a:r>
          </a:p>
        </p:txBody>
      </p:sp>
    </p:spTree>
    <p:extLst>
      <p:ext uri="{BB962C8B-B14F-4D97-AF65-F5344CB8AC3E}">
        <p14:creationId xmlns:p14="http://schemas.microsoft.com/office/powerpoint/2010/main" val="1425848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8F527-EC48-47CA-97A4-02723F0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CONTEXT RELATIONS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84D15-B661-4271-AF61-40A9E8E3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关系评测显示：识别靶点不等于理解组织、细胞与时期上下文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C828D-828E-4B62-9B5A-67C14253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C4344-0F8E-487E-95FF-C6FA090F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B913F-B07A-4DC9-AF9A-4A42D457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F22F0-9D76-4AE9-A478-783E374C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63F70-632C-4289-9042-BA194158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62.8%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E43C5-4AED-49A4-A08F-6A98C230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上下文盲基线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B1965-40F8-4742-AE5B-D41B16D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05075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标签准确率与必要动作召回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4D4C5-30F1-417F-A95D-39571923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3333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3729F-E98E-49BC-9458-233BCBDF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71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DBB3F-3E4A-47BC-9C8A-17BE36A4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240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89AF5-7816-47B9-AF08-6B38A1F4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62175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覆盖 / 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6CD86-3844-4C63-8808-57DBF85B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05075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无遗漏、无禁用声明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7D28C-2E1A-4635-ADC1-7B95C1EF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71625"/>
            <a:ext cx="4000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38A46-1C72-419E-A37F-F25758CB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71625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A7907-7433-4B58-A952-82DAC604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2402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50928-1285-4315-A40C-822CAFF8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62175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Gold / scorer 自检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B862B-D3C3-4AC3-A506-64BF79B6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05075"/>
            <a:ext cx="3581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只验证样本和评分器对齐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59A0B-95D9-4F8B-A725-A7C16955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08A440-5D03-449C-8911-F7B23FEE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中央结论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BDD7A-5226-4311-BC23-B094EC61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57625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37.2 个百分点的差距来自缺失/错配上下文：盲基线能复述疾病靶点，却不能可靠决定应追问、降级还是拒绝因果表述。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650112-B799-4002-9890-8E218F6F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714875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Oracle 不是 Agent 性能。</a:t>
            </a:r>
          </a:p>
        </p:txBody>
      </p:sp>
    </p:spTree>
    <p:extLst>
      <p:ext uri="{BB962C8B-B14F-4D97-AF65-F5344CB8AC3E}">
        <p14:creationId xmlns:p14="http://schemas.microsoft.com/office/powerpoint/2010/main" val="1804532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755487-4AD2-4148-BD66-3F273A0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D063A-4A49-4C60-B3FD-98AAC634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项目级结论：工程闭环存在，科学证据闭环仍需补齐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62A92-D9A8-41A0-B3A8-9DCC4F78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427ED-EAB2-4D80-AA77-C5267EA8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E6FEE-4E9F-44B4-95CE-3826F574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56938-AE4F-40F6-9613-B32F8C7B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43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3999B-CFD4-4AC3-B654-17ACF4C6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478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已经成立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337FF-C2A4-4910-A480-4E311B4E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63830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9 状态工作流、16 工具、17 Schema、TargetCards 与报告产物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8AA2E0-58E7-4494-B457-85522149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4727F-AE81-4772-B52E-DA00D143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143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206F6-CB35-487B-AC0A-A0DFE563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数据基础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F81BD-F59B-43A4-888E-F2FDDA7D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0510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18 疾病、13 组织、14 类细胞；UC 组学/扰动与 MCH causal gold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7A925-E71F-43B6-B23D-3FDA3DA5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02781-6B4B-4F36-95D3-212B8063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1143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05208-64DE-45BE-9F71-8F392B25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814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D7A1F"/>
                </a:solidFill>
                <a:latin typeface="Microsoft YaHei"/>
                <a:ea typeface="Microsoft YaHei"/>
                <a:cs typeface="Microsoft YaHei"/>
              </a:rPr>
              <a:t>主要缺口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369A4-3D09-4764-AA62-99E2A568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7190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72/72 completed_with_gaps；1,403 findings 未解决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9E467-7949-4115-B561-8CFCFBD0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E63DD-501C-4E22-B1A0-A4C0BF0C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1143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F5A551-F237-475C-81A3-F9A23DBD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C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84C4C"/>
                </a:solidFill>
                <a:latin typeface="Microsoft YaHei"/>
                <a:ea typeface="Microsoft YaHei"/>
                <a:cs typeface="Microsoft YaHei"/>
              </a:rPr>
              <a:t>排序风险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F37BB3-9434-498C-AA23-7E0610D6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838700"/>
            <a:ext cx="8810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omics、perturbation、safety 三维在归档矩阵中均为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95E4D-DF0D-45E9-9381-1EABC426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5BA7C-D8EB-4FF8-9FDD-416C6BFA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66675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371323-A65B-4DEF-9D8F-851B12A9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96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benchmark 全绿与 archive 全部 completed_with_gaps 必须同时解读：前者证明链路可回归，后者暴露真实项目缺口。</a:t>
            </a:r>
          </a:p>
        </p:txBody>
      </p:sp>
    </p:spTree>
    <p:extLst>
      <p:ext uri="{BB962C8B-B14F-4D97-AF65-F5344CB8AC3E}">
        <p14:creationId xmlns:p14="http://schemas.microsoft.com/office/powerpoint/2010/main" val="120549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AC123B-CC79-4A72-80AD-B8D3FA32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5FCB4-1644-4C4A-9254-793EE994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下一步优先级：先让缺口可关闭，再扩大真实数据证据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8B021-D238-410B-954F-27A09021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1575"/>
            <a:ext cx="11277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F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AC979-BC86-44B7-A131-79B822D6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960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05298-4A85-4DF8-A8C5-ACD242BA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088D2-546D-427E-9620-9866E754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59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8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699FD-D16D-4C76-BE1C-13640C3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75D23-86DA-48D2-8ECE-9FF1402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47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Reviewer 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EA74F-2F99-4E9F-AEDC-BCB98EB1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4782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为 finding 增加 owner、resolution、复核与终态迁移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2D81E-94EE-4473-ADB6-92DE264F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F1E52-7329-4F80-BD09-0ED2C8D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59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7A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2EAA-9926-435C-A83F-F03D7184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19C9E2-EE02-40E9-8785-39093979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14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真实六维排序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0CE34-E498-46FB-BD6C-36424294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让 omics、perturbation、safety 的 live 证据进入排名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DFC33-7732-4AFF-BA95-27EF43FE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7FBA8-6DA3-493C-9642-75DBF1AF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59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6047F-3999-42F5-8877-F64DA4EF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87EC9-A37F-464F-B286-79580128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81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上下文评测接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B8586-F705-4E71-B30F-D41E611F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8142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报告真实 Planner relation label、actions 与 forbidden claims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985F9-09DE-4FED-8F46-4F862FE3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112776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F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3C38F-36A5-4E93-A059-9AEFF5AE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59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F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8D379-D1A9-42C3-812C-7DB9D061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717A3-E6CC-4280-81BC-DF725B11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2238"/>
                </a:solidFill>
                <a:latin typeface="Microsoft YaHei"/>
                <a:ea typeface="Microsoft YaHei"/>
                <a:cs typeface="Microsoft YaHei"/>
              </a:rPr>
              <a:t>发布验收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C455F-C331-456B-8E03-0C2A7F5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48225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287"/>
                </a:solidFill>
                <a:latin typeface="Microsoft YaHei"/>
                <a:ea typeface="Microsoft YaHei"/>
                <a:cs typeface="Microsoft YaHei"/>
              </a:rPr>
              <a:t>Python 3.11 + live API + Reviewer LoRA GPU profile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F7F109-6473-45B5-AACA-8A57048A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目标：从“产物完整”推进到“证据完整、缺口可关闭、结论可审计”。</a:t>
            </a:r>
          </a:p>
        </p:txBody>
      </p:sp>
    </p:spTree>
    <p:extLst>
      <p:ext uri="{BB962C8B-B14F-4D97-AF65-F5344CB8AC3E}">
        <p14:creationId xmlns:p14="http://schemas.microsoft.com/office/powerpoint/2010/main" val="598920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2026-08-08T08:43:15.2070000Z</dcterms:created>
  <dcterms:modified xsi:type="dcterms:W3CDTF">2026-08-08T08:43:15.2070000Z</dcterms:modified>
</coreProperties>
</file>